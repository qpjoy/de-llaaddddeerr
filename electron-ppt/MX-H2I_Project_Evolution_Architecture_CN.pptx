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cebce35ce04c9f" /><Relationship Type="http://schemas.openxmlformats.org/officeDocument/2006/relationships/extended-properties" Target="/docProps/app.xml" Id="R07f5eaa9f40a4fad" /><Relationship Type="http://schemas.openxmlformats.org/officeDocument/2006/relationships/officeDocument" Target="/ppt/presentation.xml" Id="Ra6da593e2c4a46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a278526474bba"/>
  </p:sldMasterIdLst>
  <p:notesMasterIdLst>
    <p:notesMasterId xmlns:r="http://schemas.openxmlformats.org/officeDocument/2006/relationships" r:id="Rdc715eb04ef147b8"/>
  </p:notesMasterIdLst>
  <p:sldIdLst>
    <p:sldId xmlns:r="http://schemas.openxmlformats.org/officeDocument/2006/relationships" id="256" r:id="Red6f11d82ef34956"/>
    <p:sldId xmlns:r="http://schemas.openxmlformats.org/officeDocument/2006/relationships" id="257" r:id="R3d0cee233c1148f8"/>
    <p:sldId xmlns:r="http://schemas.openxmlformats.org/officeDocument/2006/relationships" id="258" r:id="Re0a9390184e54550"/>
    <p:sldId xmlns:r="http://schemas.openxmlformats.org/officeDocument/2006/relationships" id="259" r:id="R81218f3d329c4689"/>
    <p:sldId xmlns:r="http://schemas.openxmlformats.org/officeDocument/2006/relationships" id="260" r:id="R7ec7c1fd5af24406"/>
    <p:sldId xmlns:r="http://schemas.openxmlformats.org/officeDocument/2006/relationships" id="261" r:id="R04baafac3b244159"/>
    <p:sldId xmlns:r="http://schemas.openxmlformats.org/officeDocument/2006/relationships" id="262" r:id="R365a619ee4f54e47"/>
    <p:sldId xmlns:r="http://schemas.openxmlformats.org/officeDocument/2006/relationships" id="263" r:id="R574dd4be321541a3"/>
    <p:sldId xmlns:r="http://schemas.openxmlformats.org/officeDocument/2006/relationships" id="264" r:id="R1524310d8c2341b6"/>
    <p:sldId xmlns:r="http://schemas.openxmlformats.org/officeDocument/2006/relationships" id="265" r:id="Ra185ba927d374b18"/>
    <p:sldId xmlns:r="http://schemas.openxmlformats.org/officeDocument/2006/relationships" id="266" r:id="R8e4679e7055e4e11"/>
    <p:sldId xmlns:r="http://schemas.openxmlformats.org/officeDocument/2006/relationships" id="267" r:id="Re2d36d107dcf416f"/>
    <p:sldId xmlns:r="http://schemas.openxmlformats.org/officeDocument/2006/relationships" id="268" r:id="Reab3e9ea4d5b4624"/>
    <p:sldId xmlns:r="http://schemas.openxmlformats.org/officeDocument/2006/relationships" id="269" r:id="Rcd10b6e7c1934306"/>
    <p:sldId xmlns:r="http://schemas.openxmlformats.org/officeDocument/2006/relationships" id="270" r:id="Rbcddb64015c54f61"/>
    <p:sldId xmlns:r="http://schemas.openxmlformats.org/officeDocument/2006/relationships" id="271" r:id="R77724fd8b80b438d"/>
    <p:sldId xmlns:r="http://schemas.openxmlformats.org/officeDocument/2006/relationships" id="272" r:id="Ra8b5fa02171b4831"/>
    <p:sldId xmlns:r="http://schemas.openxmlformats.org/officeDocument/2006/relationships" id="273" r:id="Rb3650e88869447a9"/>
    <p:sldId xmlns:r="http://schemas.openxmlformats.org/officeDocument/2006/relationships" id="274" r:id="Rb92d7e0cc0f04fd0"/>
    <p:sldId xmlns:r="http://schemas.openxmlformats.org/officeDocument/2006/relationships" id="275" r:id="R5daa3d0b766d479d"/>
    <p:sldId xmlns:r="http://schemas.openxmlformats.org/officeDocument/2006/relationships" id="276" r:id="Rb238f0cd52c14529"/>
    <p:sldId xmlns:r="http://schemas.openxmlformats.org/officeDocument/2006/relationships" id="277" r:id="R5381962fb40e43db"/>
    <p:sldId xmlns:r="http://schemas.openxmlformats.org/officeDocument/2006/relationships" id="278" r:id="R568a5c149ec94b49"/>
    <p:sldId xmlns:r="http://schemas.openxmlformats.org/officeDocument/2006/relationships" id="279" r:id="R76f63fe6b9d24545"/>
    <p:sldId xmlns:r="http://schemas.openxmlformats.org/officeDocument/2006/relationships" id="280" r:id="Rdaec896d5c734ae4"/>
    <p:sldId xmlns:r="http://schemas.openxmlformats.org/officeDocument/2006/relationships" id="281" r:id="R95a1cd5ac56b486f"/>
    <p:sldId xmlns:r="http://schemas.openxmlformats.org/officeDocument/2006/relationships" id="282" r:id="R51ac81ac3e5c40c6"/>
    <p:sldId xmlns:r="http://schemas.openxmlformats.org/officeDocument/2006/relationships" id="283" r:id="R11908b53a20d44e4"/>
    <p:sldId xmlns:r="http://schemas.openxmlformats.org/officeDocument/2006/relationships" id="284" r:id="R15cf85530cba49fd"/>
    <p:sldId xmlns:r="http://schemas.openxmlformats.org/officeDocument/2006/relationships" id="285" r:id="R8aeabb2b602e4c66"/>
    <p:sldId xmlns:r="http://schemas.openxmlformats.org/officeDocument/2006/relationships" id="286" r:id="R619f134b114048b2"/>
    <p:sldId xmlns:r="http://schemas.openxmlformats.org/officeDocument/2006/relationships" id="287" r:id="R0687262950cd40f1"/>
    <p:sldId xmlns:r="http://schemas.openxmlformats.org/officeDocument/2006/relationships" id="288" r:id="R1f485fd42d734ecf"/>
    <p:sldId xmlns:r="http://schemas.openxmlformats.org/officeDocument/2006/relationships" id="289" r:id="Rd7d94d7a5eb144ba"/>
    <p:sldId xmlns:r="http://schemas.openxmlformats.org/officeDocument/2006/relationships" id="290" r:id="Rdbb3391b6be64978"/>
    <p:sldId xmlns:r="http://schemas.openxmlformats.org/officeDocument/2006/relationships" id="291" r:id="R2609c81c4b814b9b"/>
    <p:sldId xmlns:r="http://schemas.openxmlformats.org/officeDocument/2006/relationships" id="292" r:id="Rfa661a0dcb3d4581"/>
    <p:sldId xmlns:r="http://schemas.openxmlformats.org/officeDocument/2006/relationships" id="293" r:id="R4013063f7b8346c1"/>
    <p:sldId xmlns:r="http://schemas.openxmlformats.org/officeDocument/2006/relationships" id="294" r:id="Ra859232557b7421a"/>
    <p:sldId xmlns:r="http://schemas.openxmlformats.org/officeDocument/2006/relationships" id="295" r:id="R9521a091e6664742"/>
    <p:sldId xmlns:r="http://schemas.openxmlformats.org/officeDocument/2006/relationships" id="296" r:id="Re792605e7a31477f"/>
    <p:sldId xmlns:r="http://schemas.openxmlformats.org/officeDocument/2006/relationships" id="297" r:id="Rdf63c9cebec848ac"/>
    <p:sldId xmlns:r="http://schemas.openxmlformats.org/officeDocument/2006/relationships" id="298" r:id="R2d5fd2c464e94e0a"/>
    <p:sldId xmlns:r="http://schemas.openxmlformats.org/officeDocument/2006/relationships" id="299" r:id="R10324b303b454276"/>
    <p:sldId xmlns:r="http://schemas.openxmlformats.org/officeDocument/2006/relationships" id="300" r:id="R8f66a722a4f348ff"/>
    <p:sldId xmlns:r="http://schemas.openxmlformats.org/officeDocument/2006/relationships" id="301" r:id="R806504f8e0ad4572"/>
    <p:sldId xmlns:r="http://schemas.openxmlformats.org/officeDocument/2006/relationships" id="302" r:id="R30bf9463428d4fbd"/>
    <p:sldId xmlns:r="http://schemas.openxmlformats.org/officeDocument/2006/relationships" id="303" r:id="R9dbc97c166da4b06"/>
    <p:sldId xmlns:r="http://schemas.openxmlformats.org/officeDocument/2006/relationships" id="304" r:id="Rb4f6394913014ca2"/>
    <p:sldId xmlns:r="http://schemas.openxmlformats.org/officeDocument/2006/relationships" id="305" r:id="R9e9fa89e7c0a4d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010ea7b81c4729" /><Relationship Type="http://schemas.openxmlformats.org/officeDocument/2006/relationships/slideMaster" Target="/ppt/slideMasters/slideMaster1.xml" Id="Re96a278526474bba" /><Relationship Type="http://schemas.openxmlformats.org/officeDocument/2006/relationships/notesMaster" Target="/ppt/notesMasters/notesMaster1.xml" Id="Rdc715eb04ef147b8" /><Relationship Type="http://schemas.openxmlformats.org/officeDocument/2006/relationships/presProps" Target="/ppt/presProps.xml" Id="Rf1edbda65d9243a5" /><Relationship Type="http://schemas.openxmlformats.org/officeDocument/2006/relationships/tableStyles" Target="/ppt/tableStyles.xml" Id="Refb9184342c94a7f" /><Relationship Type="http://schemas.openxmlformats.org/officeDocument/2006/relationships/slide" Target="/ppt/slides/slide1.xml" Id="Red6f11d82ef34956" /><Relationship Type="http://schemas.openxmlformats.org/officeDocument/2006/relationships/slide" Target="/ppt/slides/slide2.xml" Id="R3d0cee233c1148f8" /><Relationship Type="http://schemas.openxmlformats.org/officeDocument/2006/relationships/slide" Target="/ppt/slides/slide3.xml" Id="Re0a9390184e54550" /><Relationship Type="http://schemas.openxmlformats.org/officeDocument/2006/relationships/slide" Target="/ppt/slides/slide4.xml" Id="R81218f3d329c4689" /><Relationship Type="http://schemas.openxmlformats.org/officeDocument/2006/relationships/slide" Target="/ppt/slides/slide5.xml" Id="R7ec7c1fd5af24406" /><Relationship Type="http://schemas.openxmlformats.org/officeDocument/2006/relationships/slide" Target="/ppt/slides/slide6.xml" Id="R04baafac3b244159" /><Relationship Type="http://schemas.openxmlformats.org/officeDocument/2006/relationships/slide" Target="/ppt/slides/slide7.xml" Id="R365a619ee4f54e47" /><Relationship Type="http://schemas.openxmlformats.org/officeDocument/2006/relationships/slide" Target="/ppt/slides/slide8.xml" Id="R574dd4be321541a3" /><Relationship Type="http://schemas.openxmlformats.org/officeDocument/2006/relationships/slide" Target="/ppt/slides/slide9.xml" Id="R1524310d8c2341b6" /><Relationship Type="http://schemas.openxmlformats.org/officeDocument/2006/relationships/slide" Target="/ppt/slides/slide10.xml" Id="Ra185ba927d374b18" /><Relationship Type="http://schemas.openxmlformats.org/officeDocument/2006/relationships/slide" Target="/ppt/slides/slide11.xml" Id="R8e4679e7055e4e11" /><Relationship Type="http://schemas.openxmlformats.org/officeDocument/2006/relationships/slide" Target="/ppt/slides/slide12.xml" Id="Re2d36d107dcf416f" /><Relationship Type="http://schemas.openxmlformats.org/officeDocument/2006/relationships/slide" Target="/ppt/slides/slide13.xml" Id="Reab3e9ea4d5b4624" /><Relationship Type="http://schemas.openxmlformats.org/officeDocument/2006/relationships/slide" Target="/ppt/slides/slide14.xml" Id="Rcd10b6e7c1934306" /><Relationship Type="http://schemas.openxmlformats.org/officeDocument/2006/relationships/slide" Target="/ppt/slides/slide15.xml" Id="Rbcddb64015c54f61" /><Relationship Type="http://schemas.openxmlformats.org/officeDocument/2006/relationships/slide" Target="/ppt/slides/slide16.xml" Id="R77724fd8b80b438d" /><Relationship Type="http://schemas.openxmlformats.org/officeDocument/2006/relationships/slide" Target="/ppt/slides/slide17.xml" Id="Ra8b5fa02171b4831" /><Relationship Type="http://schemas.openxmlformats.org/officeDocument/2006/relationships/slide" Target="/ppt/slides/slide18.xml" Id="Rb3650e88869447a9" /><Relationship Type="http://schemas.openxmlformats.org/officeDocument/2006/relationships/slide" Target="/ppt/slides/slide19.xml" Id="Rb92d7e0cc0f04fd0" /><Relationship Type="http://schemas.openxmlformats.org/officeDocument/2006/relationships/slide" Target="/ppt/slides/slide20.xml" Id="R5daa3d0b766d479d" /><Relationship Type="http://schemas.openxmlformats.org/officeDocument/2006/relationships/slide" Target="/ppt/slides/slide21.xml" Id="Rb238f0cd52c14529" /><Relationship Type="http://schemas.openxmlformats.org/officeDocument/2006/relationships/slide" Target="/ppt/slides/slide22.xml" Id="R5381962fb40e43db" /><Relationship Type="http://schemas.openxmlformats.org/officeDocument/2006/relationships/slide" Target="/ppt/slides/slide23.xml" Id="R568a5c149ec94b49" /><Relationship Type="http://schemas.openxmlformats.org/officeDocument/2006/relationships/slide" Target="/ppt/slides/slide24.xml" Id="R76f63fe6b9d24545" /><Relationship Type="http://schemas.openxmlformats.org/officeDocument/2006/relationships/slide" Target="/ppt/slides/slide25.xml" Id="Rdaec896d5c734ae4" /><Relationship Type="http://schemas.openxmlformats.org/officeDocument/2006/relationships/slide" Target="/ppt/slides/slide26.xml" Id="R95a1cd5ac56b486f" /><Relationship Type="http://schemas.openxmlformats.org/officeDocument/2006/relationships/slide" Target="/ppt/slides/slide27.xml" Id="R51ac81ac3e5c40c6" /><Relationship Type="http://schemas.openxmlformats.org/officeDocument/2006/relationships/slide" Target="/ppt/slides/slide28.xml" Id="R11908b53a20d44e4" /><Relationship Type="http://schemas.openxmlformats.org/officeDocument/2006/relationships/slide" Target="/ppt/slides/slide29.xml" Id="R15cf85530cba49fd" /><Relationship Type="http://schemas.openxmlformats.org/officeDocument/2006/relationships/slide" Target="/ppt/slides/slide30.xml" Id="R8aeabb2b602e4c66" /><Relationship Type="http://schemas.openxmlformats.org/officeDocument/2006/relationships/slide" Target="/ppt/slides/slide31.xml" Id="R619f134b114048b2" /><Relationship Type="http://schemas.openxmlformats.org/officeDocument/2006/relationships/slide" Target="/ppt/slides/slide32.xml" Id="R0687262950cd40f1" /><Relationship Type="http://schemas.openxmlformats.org/officeDocument/2006/relationships/slide" Target="/ppt/slides/slide33.xml" Id="R1f485fd42d734ecf" /><Relationship Type="http://schemas.openxmlformats.org/officeDocument/2006/relationships/slide" Target="/ppt/slides/slide34.xml" Id="Rd7d94d7a5eb144ba" /><Relationship Type="http://schemas.openxmlformats.org/officeDocument/2006/relationships/slide" Target="/ppt/slides/slide35.xml" Id="Rdbb3391b6be64978" /><Relationship Type="http://schemas.openxmlformats.org/officeDocument/2006/relationships/slide" Target="/ppt/slides/slide36.xml" Id="R2609c81c4b814b9b" /><Relationship Type="http://schemas.openxmlformats.org/officeDocument/2006/relationships/slide" Target="/ppt/slides/slide37.xml" Id="Rfa661a0dcb3d4581" /><Relationship Type="http://schemas.openxmlformats.org/officeDocument/2006/relationships/slide" Target="/ppt/slides/slide38.xml" Id="R4013063f7b8346c1" /><Relationship Type="http://schemas.openxmlformats.org/officeDocument/2006/relationships/slide" Target="/ppt/slides/slide39.xml" Id="Ra859232557b7421a" /><Relationship Type="http://schemas.openxmlformats.org/officeDocument/2006/relationships/slide" Target="/ppt/slides/slide40.xml" Id="R9521a091e6664742" /><Relationship Type="http://schemas.openxmlformats.org/officeDocument/2006/relationships/slide" Target="/ppt/slides/slide41.xml" Id="Re792605e7a31477f" /><Relationship Type="http://schemas.openxmlformats.org/officeDocument/2006/relationships/slide" Target="/ppt/slides/slide42.xml" Id="Rdf63c9cebec848ac" /><Relationship Type="http://schemas.openxmlformats.org/officeDocument/2006/relationships/slide" Target="/ppt/slides/slide43.xml" Id="R2d5fd2c464e94e0a" /><Relationship Type="http://schemas.openxmlformats.org/officeDocument/2006/relationships/slide" Target="/ppt/slides/slide44.xml" Id="R10324b303b454276" /><Relationship Type="http://schemas.openxmlformats.org/officeDocument/2006/relationships/slide" Target="/ppt/slides/slide45.xml" Id="R8f66a722a4f348ff" /><Relationship Type="http://schemas.openxmlformats.org/officeDocument/2006/relationships/slide" Target="/ppt/slides/slide46.xml" Id="R806504f8e0ad4572" /><Relationship Type="http://schemas.openxmlformats.org/officeDocument/2006/relationships/slide" Target="/ppt/slides/slide47.xml" Id="R30bf9463428d4fbd" /><Relationship Type="http://schemas.openxmlformats.org/officeDocument/2006/relationships/slide" Target="/ppt/slides/slide48.xml" Id="R9dbc97c166da4b06" /><Relationship Type="http://schemas.openxmlformats.org/officeDocument/2006/relationships/slide" Target="/ppt/slides/slide49.xml" Id="Rb4f6394913014ca2" /><Relationship Type="http://schemas.openxmlformats.org/officeDocument/2006/relationships/slide" Target="/ppt/slides/slide50.xml" Id="R9e9fa89e7c0a4d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4badd0b054c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48f234d7c7465a" /><Relationship Type="http://schemas.openxmlformats.org/officeDocument/2006/relationships/notesMaster" Target="/ppt/notesMasters/notesMaster1.xml" Id="Ra3abbe95a3e848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7c6bfd590c41a2" /><Relationship Type="http://schemas.openxmlformats.org/officeDocument/2006/relationships/notesMaster" Target="/ppt/notesMasters/notesMaster1.xml" Id="R0225e140b0fb43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f5a0878a074f68" /><Relationship Type="http://schemas.openxmlformats.org/officeDocument/2006/relationships/notesMaster" Target="/ppt/notesMasters/notesMaster1.xml" Id="Ra817389c4b8d4d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351246ce71429b" /><Relationship Type="http://schemas.openxmlformats.org/officeDocument/2006/relationships/notesMaster" Target="/ppt/notesMasters/notesMaster1.xml" Id="R8d9fd342d78749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b31739f11f4d4d" /><Relationship Type="http://schemas.openxmlformats.org/officeDocument/2006/relationships/notesMaster" Target="/ppt/notesMasters/notesMaster1.xml" Id="R414e18cd362e46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a5a81044d14f1d" /><Relationship Type="http://schemas.openxmlformats.org/officeDocument/2006/relationships/notesMaster" Target="/ppt/notesMasters/notesMaster1.xml" Id="R117315cf0cd545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654d16fa504fdc" /><Relationship Type="http://schemas.openxmlformats.org/officeDocument/2006/relationships/notesMaster" Target="/ppt/notesMasters/notesMaster1.xml" Id="R5d9baa95b8b64c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15630635c446a3" /><Relationship Type="http://schemas.openxmlformats.org/officeDocument/2006/relationships/notesMaster" Target="/ppt/notesMasters/notesMaster1.xml" Id="R1522662a6e374a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7cabca4c01454c" /><Relationship Type="http://schemas.openxmlformats.org/officeDocument/2006/relationships/notesMaster" Target="/ppt/notesMasters/notesMaster1.xml" Id="R49b45cdf564746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30edebcb1446dc" /><Relationship Type="http://schemas.openxmlformats.org/officeDocument/2006/relationships/notesMaster" Target="/ppt/notesMasters/notesMaster1.xml" Id="Rfe7da4d3a9bc49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d311c614a64867" /><Relationship Type="http://schemas.openxmlformats.org/officeDocument/2006/relationships/notesMaster" Target="/ppt/notesMasters/notesMaster1.xml" Id="Rc341c0ad5eb542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bcf7938feb432d" /><Relationship Type="http://schemas.openxmlformats.org/officeDocument/2006/relationships/notesMaster" Target="/ppt/notesMasters/notesMaster1.xml" Id="R3e5253580e4942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29f030a03c4504" /><Relationship Type="http://schemas.openxmlformats.org/officeDocument/2006/relationships/notesMaster" Target="/ppt/notesMasters/notesMaster1.xml" Id="Rabce30ee0cda4a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f4d5eca8f647d9" /><Relationship Type="http://schemas.openxmlformats.org/officeDocument/2006/relationships/notesMaster" Target="/ppt/notesMasters/notesMaster1.xml" Id="Rfa721d9a2c134c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a03a6b72174eab" /><Relationship Type="http://schemas.openxmlformats.org/officeDocument/2006/relationships/notesMaster" Target="/ppt/notesMasters/notesMaster1.xml" Id="Re72b50576d3a43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6617868de9495a" /><Relationship Type="http://schemas.openxmlformats.org/officeDocument/2006/relationships/notesMaster" Target="/ppt/notesMasters/notesMaster1.xml" Id="Rbb7269dc2d8b4d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fa646f0e5b434c" /><Relationship Type="http://schemas.openxmlformats.org/officeDocument/2006/relationships/notesMaster" Target="/ppt/notesMasters/notesMaster1.xml" Id="R7f37b7c9446348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92e3fe86c14058" /><Relationship Type="http://schemas.openxmlformats.org/officeDocument/2006/relationships/notesMaster" Target="/ppt/notesMasters/notesMaster1.xml" Id="Reb9781ab738a44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b3c6c2c7964b7a" /><Relationship Type="http://schemas.openxmlformats.org/officeDocument/2006/relationships/notesMaster" Target="/ppt/notesMasters/notesMaster1.xml" Id="Ref7808442de242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0cd5bfe2914b3b" /><Relationship Type="http://schemas.openxmlformats.org/officeDocument/2006/relationships/notesMaster" Target="/ppt/notesMasters/notesMaster1.xml" Id="R55a64b4433a344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f45b620ee14b71" /><Relationship Type="http://schemas.openxmlformats.org/officeDocument/2006/relationships/notesMaster" Target="/ppt/notesMasters/notesMaster1.xml" Id="Rc40c1beea05542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496cdcac3d4f15" /><Relationship Type="http://schemas.openxmlformats.org/officeDocument/2006/relationships/notesMaster" Target="/ppt/notesMasters/notesMaster1.xml" Id="Rd73ad8fb81e448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620285fcf84ac1" /><Relationship Type="http://schemas.openxmlformats.org/officeDocument/2006/relationships/notesMaster" Target="/ppt/notesMasters/notesMaster1.xml" Id="R5c76ab528c6e47c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25c26e7ebd4486b" /><Relationship Type="http://schemas.openxmlformats.org/officeDocument/2006/relationships/notesMaster" Target="/ppt/notesMasters/notesMaster1.xml" Id="R45264e0d17df41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657fba28514493" /><Relationship Type="http://schemas.openxmlformats.org/officeDocument/2006/relationships/notesMaster" Target="/ppt/notesMasters/notesMaster1.xml" Id="R8b6c6c79bf614bd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59fe26e0dad4577" /><Relationship Type="http://schemas.openxmlformats.org/officeDocument/2006/relationships/notesMaster" Target="/ppt/notesMasters/notesMaster1.xml" Id="R178a0171ba7c4c9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fd7f70c61e4ba8" /><Relationship Type="http://schemas.openxmlformats.org/officeDocument/2006/relationships/notesMaster" Target="/ppt/notesMasters/notesMaster1.xml" Id="R2cea4e6dcf1e4a2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40bf376ce3b43fe" /><Relationship Type="http://schemas.openxmlformats.org/officeDocument/2006/relationships/notesMaster" Target="/ppt/notesMasters/notesMaster1.xml" Id="R3f11becdf930486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b7991d312f647e3" /><Relationship Type="http://schemas.openxmlformats.org/officeDocument/2006/relationships/notesMaster" Target="/ppt/notesMasters/notesMaster1.xml" Id="Rc615a4bdc0e643e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89bf350cda441d0" /><Relationship Type="http://schemas.openxmlformats.org/officeDocument/2006/relationships/notesMaster" Target="/ppt/notesMasters/notesMaster1.xml" Id="Rcce6de75bb404b0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b99b41e79cb46e6" /><Relationship Type="http://schemas.openxmlformats.org/officeDocument/2006/relationships/notesMaster" Target="/ppt/notesMasters/notesMaster1.xml" Id="R214de58e63c346e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daf150421374264" /><Relationship Type="http://schemas.openxmlformats.org/officeDocument/2006/relationships/notesMaster" Target="/ppt/notesMasters/notesMaster1.xml" Id="Rcba8519e14a7443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44853c745a247b6" /><Relationship Type="http://schemas.openxmlformats.org/officeDocument/2006/relationships/notesMaster" Target="/ppt/notesMasters/notesMaster1.xml" Id="R6d494dd8b542483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a6774fb520a41ef" /><Relationship Type="http://schemas.openxmlformats.org/officeDocument/2006/relationships/notesMaster" Target="/ppt/notesMasters/notesMaster1.xml" Id="Rfeea81792bd14c7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e20d7dce4104884" /><Relationship Type="http://schemas.openxmlformats.org/officeDocument/2006/relationships/notesMaster" Target="/ppt/notesMasters/notesMaster1.xml" Id="Ra4e9d2bedba84e4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58530239f6f42be" /><Relationship Type="http://schemas.openxmlformats.org/officeDocument/2006/relationships/notesMaster" Target="/ppt/notesMasters/notesMaster1.xml" Id="Re174d640b92143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e059417f5de48e4" /><Relationship Type="http://schemas.openxmlformats.org/officeDocument/2006/relationships/notesMaster" Target="/ppt/notesMasters/notesMaster1.xml" Id="R433119a8b9e84e1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08b7335af8f47f2" /><Relationship Type="http://schemas.openxmlformats.org/officeDocument/2006/relationships/notesMaster" Target="/ppt/notesMasters/notesMaster1.xml" Id="R499bf05446e3410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07f5628af524d49" /><Relationship Type="http://schemas.openxmlformats.org/officeDocument/2006/relationships/notesMaster" Target="/ppt/notesMasters/notesMaster1.xml" Id="R37ba2a0075d74a1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3b31af985394497" /><Relationship Type="http://schemas.openxmlformats.org/officeDocument/2006/relationships/notesMaster" Target="/ppt/notesMasters/notesMaster1.xml" Id="R917edcce28414ba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08d4df07f8c4156" /><Relationship Type="http://schemas.openxmlformats.org/officeDocument/2006/relationships/notesMaster" Target="/ppt/notesMasters/notesMaster1.xml" Id="Rfba0e06fcdde483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ca328a1820e4f09" /><Relationship Type="http://schemas.openxmlformats.org/officeDocument/2006/relationships/notesMaster" Target="/ppt/notesMasters/notesMaster1.xml" Id="R14d20ce88e05494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d564d4387dc4260" /><Relationship Type="http://schemas.openxmlformats.org/officeDocument/2006/relationships/notesMaster" Target="/ppt/notesMasters/notesMaster1.xml" Id="R12c8f701cb2f4a1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0e91a5c98d749c3" /><Relationship Type="http://schemas.openxmlformats.org/officeDocument/2006/relationships/notesMaster" Target="/ppt/notesMasters/notesMaster1.xml" Id="R365500f1df4d4a9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ffb463de1ea4d3c" /><Relationship Type="http://schemas.openxmlformats.org/officeDocument/2006/relationships/notesMaster" Target="/ppt/notesMasters/notesMaster1.xml" Id="R93b78870f29243d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146a0e0f6324036" /><Relationship Type="http://schemas.openxmlformats.org/officeDocument/2006/relationships/notesMaster" Target="/ppt/notesMasters/notesMaster1.xml" Id="R9488ec12b24e42f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612237205e24ec6" /><Relationship Type="http://schemas.openxmlformats.org/officeDocument/2006/relationships/notesMaster" Target="/ppt/notesMasters/notesMaster1.xml" Id="R028c32091ed9410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5dd227c9d974ea8" /><Relationship Type="http://schemas.openxmlformats.org/officeDocument/2006/relationships/notesMaster" Target="/ppt/notesMasters/notesMaster1.xml" Id="R5e64c6b5b5db412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a17f391ef934bd6" /><Relationship Type="http://schemas.openxmlformats.org/officeDocument/2006/relationships/notesMaster" Target="/ppt/notesMasters/notesMaster1.xml" Id="R7284d025850b45f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e4ff45da211407c" /><Relationship Type="http://schemas.openxmlformats.org/officeDocument/2006/relationships/notesMaster" Target="/ppt/notesMasters/notesMaster1.xml" Id="Rff4656c1c97f45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开场不要先讲协议。先告诉听众：这不是一串 VPN 脚本的历史，而是一次把网络能力变成可交付产品能力的演进。整场会用真实界面和一个现场 Demo 来证明这条主线。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这一页给出全场判断标准。后面每个阶段都回答三个问题：解决了什么，新增了什么复杂度，下一阶段为什么必然出现。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用时间线快速建立方位。强调不是重写：例如 tc 的 per-user QoS 在 Docker 阶段被产品化，V2 里又成为未来 AppCenter 网络工具的基础。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讲脚本的价值，不要贬低。它把大量隐性经验固化了。问题不在脚本本身，而是当用户、模式和主机变多后，状态管理开始失控。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WireGuard 并没有自动解决运营问题，它只是让数据面足够简单，从而逼着我们正视控制面：谁分配 IP，谁持有私钥，谁撤销 peer，怎样证明路径真的走在 WG 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这一页为最后展望埋伏笔：流量限制不是新想法，早在脚本阶段就有。但它缺少产品化的身份映射、指标、审计和可视化。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用这张表做过渡。Docker 的意义不是“用了容器”，而是第一次把服务拓扑、配置、数据目录和操作命令绑定成一个可复用单元。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manage.sh 已经像一个命令行控制面：它不仅起容器，还管理用户、认证、限速、导出和重建。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 Stack 的关键创新是订阅转换。客户端不必理解服务器文件结构，只需要一个受保护的 YAML URL。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可以现场展示 manage.sh help。它已经具备产品命令的雏形，但还不是平台 API：没有租户、角色、设备、状态一致性和远端执行证据。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这里可以讲和 WireGuard Stack 的分工：WG 更像确定性的内网 fabric；Hysteria2 更适合 Home 到 Oversea 的外网 access。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 Docker 经验直接映射到 V2：控制面与内部访问走 WG，外网 access 走 Oversea Hysteria2，避免所有流量绕 Internal。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从这里开始，听众会看到真实 UI。先讲组织结构，再讲 HDO/Tunnel，避免把 V1 误解成单一客户端。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这里突出“鸡生蛋”问题：如果市场下载需要网络，网络插件必须先离线 seed。这条经验在 V2 变成了 bootstrap 与稳定态分离。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不要只说“拆库更好”。拆库换来了发布独立性，同时制造了包版本、数据库 DTO、Electron 原生模块和打包复制的协调成本。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这里停留 30 秒即可。现场 Demo 可展示“连接当前线路→登录切换网段→高级功能”。PPT 只负责让听众相信这不是概念图。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这一页为 V2 的 Launcher Foundation 做铺垫。V1 功能能跑，但边界过重：每个应用如果都复制网络与权限逻辑，就无法快速扩展。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现场可以点四个模式按钮，重点讲权限边界：TUN 才需要特权，App 模式通过本地 mixed proxy 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这已经接近产品：后端决定订阅和策略，本地插件负责执行。V2 会把这条链路进一步统一到 Internal User Center 与 Config Center。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把‘未完成’讲成工程边界，不要讲成失败。V1 的价值是验证产品路径；V2 的价值是把已验证路径放进可持续的平台结构。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的一句话：把网络从每个 App 里拿出来，交给 Standalone owner；Embed App 通过 broker-session 继承能力。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这页只讲基调：控制面需要在暗环境与长时间运维中保持可读，颜色必须表达状态而不是装饰。接下来的真实界面都沿用这套语言。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这张图是全场最重要架构图。讲清三条边界：D 不保存用户真相，I 没公网也可作为权威，O 只负责外网 access。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现场排障时用这页：登录成功只能证明控制面；H2I ready 需要数据面证据。Clash fake-ip 或其它 utun 不能算通过。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bootstrap 讲成过桥：首连不可能依赖尚未建立的 Internal DNS/WG；但一旦拿到租约，就应该尽快切到可信的 relay 稳定态。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避免把它说成安全绕过。Host Resolve 只是避免域名被云厂商备案页按 Host 拦截，原始域名仍作为逻辑身份传递；内部权限仍由 Internal 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IP 地址不是随便挑的。10.88 是共享 relay fabric；10.89 属于 MX-H2I；10.90+ 留给其他 standalone。Embed App 默认不再分配独立 IP。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 Demo 最好展示状态页或高级诊断：不只看 connected 字样，还看 route dev、AllowedIPs、DNS phase 和 Internal health。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解释为什么浏览器能开但 ping 不通：PAC 只影响代理感知流量；macOS 还需要 supplemental DNS，CLI/ping 才能解析到同一本机 edge。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明确区分 token、快照和租约，不要把 180 天说成登录会话。多设备是模型支持，不等于产品策略已经完整；这点要坦诚。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现场可演示账号选择和登录；不要展示真实密码。登录的意义不是多一个头像，而是整个 broker session、App 权限和订阅资格都换到 user principal。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这页适合和现场连接动作配合。PPT 先告诉听众成功后的三项可见证据：本机 IP、Channel 和 Internal ready。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 Demo 顺序建议固定：连接→App menu→AppCenter。这样听众能直观看到网络底座是 AppCenter 的前置条件。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H2O 解释 Embed App：它像 Clash 用户面，但不拥有 WG、系统权限或身份，而是复用 MX-H2I channel。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如果听众问多 App 是否冲突，答案在这里：UI 可以同时运行，网络写入必须由 broker 合并。只有最后一个 owner 退出时才恢复系统网络。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H2O 首页是现场 Demo 的核心画面。它把 broker-session、订阅和代理端口隐藏在用户熟悉的状态与模式里。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这页解释为什么 ensure-subscription 归 User Center/Internal，而端口和模式归本地运行时：身份决定你能拿到什么，客户端决定怎样执行。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现场可以切换规则页。强调 H2O 提供熟悉的代理规则体验，但实际系统网络写入仍受 Launcher broker 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这两页是现场 Demo 的保险：网络外部网站受环境影响时，至少可以展示运行日志与策略应用证据。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讲清 API 价值：不是简单返回 URL，而是一次幂等补齐 entitlement、站点账号与订阅元数据。客户端再用当前用户身份换取 inline YAML。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回答用户提到的推送问题：控制权在 Internal，目标机不需要登录到控制面。当前系统强调 gated execution，防止‘按钮一按就远程改生产’。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不要把所有东西都塞进 Pod。WireGuard 与真实宿主机网络仍需要 host runner 或 systemd。K8s 主要承载权威控制面与声明式编排。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Luopan 是 V2 复用能力的证明。它可以作为 embed，也可以拥有独立 standalone channel；选择依据是网络所有权和故障域，而不是 UI 大小。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Center 的核心不是下载地址，而是决策：谁命中、是否过 gate、何时激活、能否回滚。网络连接不稳定时延迟激活。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现场可以点检查更新和下载大版本。明确说明这是 renderer mock/流程界面，真实签名、跨平台安装与完整 E2E 仍需持续验证。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这一页建立信任。不要说所有功能完全打通；用状态矩阵告诉听众下一步验证重点，这比模糊的‘还有一些问题’更专业。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这是利弊分析的总表。面向小规模或一次性任务，脚本仍然合理；只有当身份、应用、站点、发布开始增长，V2 的复杂度才值得。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明确这是展望图。把 iptables_tc.sh 与未来 AppCenter 连起来：限速不是孤立脚本，而是可被身份、策略和观测系统消费的网络能力。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如果需要争取资源，用三步路线收束。第一步稳定网络，第二步稳定交付，第三步才扩工具生态。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不要用‘谢谢’结束。用这句话回扣开场，并直接进入 Demo。Demo 完成后再接受问题，听众会把架构与真实产品画面对应起来。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a5549604947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7db75066b744b8" /><Relationship Type="http://schemas.openxmlformats.org/officeDocument/2006/relationships/slideLayout" Target="/ppt/slideLayouts/slideLayout1.xml" Id="Rfcfe3d95ab714f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fe3d95ab714f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5f3b7d8df419c" /><Relationship Type="http://schemas.openxmlformats.org/officeDocument/2006/relationships/notesSlide" Target="/ppt/notesSlides/notesSlide1.xml" Id="Rf639cd4aba9941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8e1b76c6c4b08" /><Relationship Type="http://schemas.openxmlformats.org/officeDocument/2006/relationships/notesSlide" Target="/ppt/notesSlides/notesSlide2.xml" Id="R0003aa3a8f7b4c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90f02ce604e19" /><Relationship Type="http://schemas.openxmlformats.org/officeDocument/2006/relationships/notesSlide" Target="/ppt/notesSlides/notesSlide3.xml" Id="Rf87f1798d072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64b9696364b00" /><Relationship Type="http://schemas.openxmlformats.org/officeDocument/2006/relationships/notesSlide" Target="/ppt/notesSlides/notesSlide4.xml" Id="R45dabc6c30cb4b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8161dfd5c4572" /><Relationship Type="http://schemas.openxmlformats.org/officeDocument/2006/relationships/notesSlide" Target="/ppt/notesSlides/notesSlide5.xml" Id="R21d85e79392840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de113c7c4442a" /><Relationship Type="http://schemas.openxmlformats.org/officeDocument/2006/relationships/notesSlide" Target="/ppt/notesSlides/notesSlide6.xml" Id="Refe42dce2cb540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903116f224b3a" /><Relationship Type="http://schemas.openxmlformats.org/officeDocument/2006/relationships/notesSlide" Target="/ppt/notesSlides/notesSlide7.xml" Id="R40e320d39ab7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ffcdd7c3b4532" /><Relationship Type="http://schemas.openxmlformats.org/officeDocument/2006/relationships/notesSlide" Target="/ppt/notesSlides/notesSlide8.xml" Id="Rf48af5e29e044d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0a33422424bb7" /><Relationship Type="http://schemas.openxmlformats.org/officeDocument/2006/relationships/notesSlide" Target="/ppt/notesSlides/notesSlide9.xml" Id="R3255527b5a6547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7952895fb4a16" /><Relationship Type="http://schemas.openxmlformats.org/officeDocument/2006/relationships/notesSlide" Target="/ppt/notesSlides/notesSlide10.xml" Id="R1924cfa8f8114e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38cb9bd344d93" /><Relationship Type="http://schemas.openxmlformats.org/officeDocument/2006/relationships/notesSlide" Target="/ppt/notesSlides/notesSlide11.xml" Id="R6f67706aa0e84e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33abb88e24eba" /><Relationship Type="http://schemas.openxmlformats.org/officeDocument/2006/relationships/notesSlide" Target="/ppt/notesSlides/notesSlide12.xml" Id="R26fd6d37d6b64d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6fd4befe04c9e" /><Relationship Type="http://schemas.openxmlformats.org/officeDocument/2006/relationships/notesSlide" Target="/ppt/notesSlides/notesSlide13.xml" Id="R69dc03ed1ee142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035e82ffd40b4" /><Relationship Type="http://schemas.openxmlformats.org/officeDocument/2006/relationships/notesSlide" Target="/ppt/notesSlides/notesSlide14.xml" Id="R995435c5a41442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27b28050a4ec9" /><Relationship Type="http://schemas.openxmlformats.org/officeDocument/2006/relationships/notesSlide" Target="/ppt/notesSlides/notesSlide15.xml" Id="R7684cce238c840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f92b936ed4d6e" /><Relationship Type="http://schemas.openxmlformats.org/officeDocument/2006/relationships/image" Target="/ppt/media/image.jpeg" Id="R5c240cd011fa4e4b" /><Relationship Type="http://schemas.openxmlformats.org/officeDocument/2006/relationships/notesSlide" Target="/ppt/notesSlides/notesSlide16.xml" Id="R8fc281ab83f741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11fa7407f45fa" /><Relationship Type="http://schemas.openxmlformats.org/officeDocument/2006/relationships/notesSlide" Target="/ppt/notesSlides/notesSlide17.xml" Id="Rf07a84e6f0c143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14b5dfd9a4b74" /><Relationship Type="http://schemas.openxmlformats.org/officeDocument/2006/relationships/image" Target="/ppt/media/image2.jpeg" Id="R3817042c67cf4b9d" /><Relationship Type="http://schemas.openxmlformats.org/officeDocument/2006/relationships/notesSlide" Target="/ppt/notesSlides/notesSlide18.xml" Id="Ra234290a4a2c48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35c02fa954e96" /><Relationship Type="http://schemas.openxmlformats.org/officeDocument/2006/relationships/image" Target="/ppt/media/image3.jpeg" Id="Rc86c5b92f17a4144" /><Relationship Type="http://schemas.openxmlformats.org/officeDocument/2006/relationships/notesSlide" Target="/ppt/notesSlides/notesSlide19.xml" Id="R659a9726236f4c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0e28995074caa" /><Relationship Type="http://schemas.openxmlformats.org/officeDocument/2006/relationships/notesSlide" Target="/ppt/notesSlides/notesSlide20.xml" Id="R4384c6f8038a4c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0fb42ebc44625" /><Relationship Type="http://schemas.openxmlformats.org/officeDocument/2006/relationships/notesSlide" Target="/ppt/notesSlides/notesSlide21.xml" Id="Rd09aae838488423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5a95925ef48d9" /><Relationship Type="http://schemas.openxmlformats.org/officeDocument/2006/relationships/image" Target="/ppt/media/image4.jpeg" Id="Ra3d347c96b774148" /><Relationship Type="http://schemas.openxmlformats.org/officeDocument/2006/relationships/notesSlide" Target="/ppt/notesSlides/notesSlide22.xml" Id="R990fa6f8708c445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ecbae6a2d4343" /><Relationship Type="http://schemas.openxmlformats.org/officeDocument/2006/relationships/notesSlide" Target="/ppt/notesSlides/notesSlide23.xml" Id="R6fac12b2f8cc49c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86881970e450b" /><Relationship Type="http://schemas.openxmlformats.org/officeDocument/2006/relationships/notesSlide" Target="/ppt/notesSlides/notesSlide24.xml" Id="R8fc9867c889544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9996540df44fb" /><Relationship Type="http://schemas.openxmlformats.org/officeDocument/2006/relationships/notesSlide" Target="/ppt/notesSlides/notesSlide25.xml" Id="R8f26a31363c14f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02a0905c5483b" /><Relationship Type="http://schemas.openxmlformats.org/officeDocument/2006/relationships/notesSlide" Target="/ppt/notesSlides/notesSlide26.xml" Id="R73dcc3dfc18d49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22c701f144334" /><Relationship Type="http://schemas.openxmlformats.org/officeDocument/2006/relationships/notesSlide" Target="/ppt/notesSlides/notesSlide27.xml" Id="R370a2b87e78844a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a86a298604f5a" /><Relationship Type="http://schemas.openxmlformats.org/officeDocument/2006/relationships/notesSlide" Target="/ppt/notesSlides/notesSlide28.xml" Id="R48a8b39439b142f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f8770c02d4cfa" /><Relationship Type="http://schemas.openxmlformats.org/officeDocument/2006/relationships/notesSlide" Target="/ppt/notesSlides/notesSlide29.xml" Id="Rc74b7b4e3fa7437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67ebe6b05487e" /><Relationship Type="http://schemas.openxmlformats.org/officeDocument/2006/relationships/notesSlide" Target="/ppt/notesSlides/notesSlide30.xml" Id="Raa53ba25294f4a8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672dd69284a6f" /><Relationship Type="http://schemas.openxmlformats.org/officeDocument/2006/relationships/image" Target="/ppt/media/image5.jpeg" Id="Ra8c282fd64ed48d7" /><Relationship Type="http://schemas.openxmlformats.org/officeDocument/2006/relationships/notesSlide" Target="/ppt/notesSlides/notesSlide31.xml" Id="Rc9f781735acc4e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613edde574530" /><Relationship Type="http://schemas.openxmlformats.org/officeDocument/2006/relationships/image" Target="/ppt/media/image6.jpeg" Id="R4e81ad5a55964729" /><Relationship Type="http://schemas.openxmlformats.org/officeDocument/2006/relationships/image" Target="/ppt/media/image7.jpeg" Id="Rd03d77464ffa4f00" /><Relationship Type="http://schemas.openxmlformats.org/officeDocument/2006/relationships/notesSlide" Target="/ppt/notesSlides/notesSlide32.xml" Id="R0b105701807c4e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0530b45244e25" /><Relationship Type="http://schemas.openxmlformats.org/officeDocument/2006/relationships/image" Target="/ppt/media/image8.jpeg" Id="R6d1780ecc9224043" /><Relationship Type="http://schemas.openxmlformats.org/officeDocument/2006/relationships/image" Target="/ppt/media/image9.jpeg" Id="R48c34de6d6e14fda" /><Relationship Type="http://schemas.openxmlformats.org/officeDocument/2006/relationships/notesSlide" Target="/ppt/notesSlides/notesSlide33.xml" Id="Rc3c2cbfe81544a5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b8a367f0d430e" /><Relationship Type="http://schemas.openxmlformats.org/officeDocument/2006/relationships/image" Target="/ppt/media/image10.jpeg" Id="R5a592c9f37cf4f99" /><Relationship Type="http://schemas.openxmlformats.org/officeDocument/2006/relationships/notesSlide" Target="/ppt/notesSlides/notesSlide34.xml" Id="R589d211d5ad54bf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cfd4b5201466e" /><Relationship Type="http://schemas.openxmlformats.org/officeDocument/2006/relationships/notesSlide" Target="/ppt/notesSlides/notesSlide35.xml" Id="R0a51962087a542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1388e4cb74a48" /><Relationship Type="http://schemas.openxmlformats.org/officeDocument/2006/relationships/image" Target="/ppt/media/image11.jpeg" Id="Ra72fd7379ebc4a2c" /><Relationship Type="http://schemas.openxmlformats.org/officeDocument/2006/relationships/notesSlide" Target="/ppt/notesSlides/notesSlide36.xml" Id="R2e2987679b2547b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c2790ca0242b2" /><Relationship Type="http://schemas.openxmlformats.org/officeDocument/2006/relationships/image" Target="/ppt/media/image12.jpeg" Id="R8432e69f4da7473c" /><Relationship Type="http://schemas.openxmlformats.org/officeDocument/2006/relationships/image" Target="/ppt/media/image13.jpeg" Id="R56ff8be21ca1478e" /><Relationship Type="http://schemas.openxmlformats.org/officeDocument/2006/relationships/notesSlide" Target="/ppt/notesSlides/notesSlide37.xml" Id="R62272d8fa4d24db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65e8bf1c14776" /><Relationship Type="http://schemas.openxmlformats.org/officeDocument/2006/relationships/image" Target="/ppt/media/image14.jpeg" Id="R9b237c3313524b07" /><Relationship Type="http://schemas.openxmlformats.org/officeDocument/2006/relationships/notesSlide" Target="/ppt/notesSlides/notesSlide38.xml" Id="Rf832688ba117430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9f30fa63c439f" /><Relationship Type="http://schemas.openxmlformats.org/officeDocument/2006/relationships/image" Target="/ppt/media/image15.jpeg" Id="R037172e838854b9e" /><Relationship Type="http://schemas.openxmlformats.org/officeDocument/2006/relationships/image" Target="/ppt/media/image16.jpeg" Id="Ra9550df0ad794198" /><Relationship Type="http://schemas.openxmlformats.org/officeDocument/2006/relationships/notesSlide" Target="/ppt/notesSlides/notesSlide39.xml" Id="R197352d78f05471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b58f1652e4557" /><Relationship Type="http://schemas.openxmlformats.org/officeDocument/2006/relationships/notesSlide" Target="/ppt/notesSlides/notesSlide40.xml" Id="R559472bbd8f04ac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770d4bdbe401d" /><Relationship Type="http://schemas.openxmlformats.org/officeDocument/2006/relationships/notesSlide" Target="/ppt/notesSlides/notesSlide41.xml" Id="Ra5924d58b429474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1633363984cd2" /><Relationship Type="http://schemas.openxmlformats.org/officeDocument/2006/relationships/notesSlide" Target="/ppt/notesSlides/notesSlide42.xml" Id="R93a837bad96f489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b2e9646984718" /><Relationship Type="http://schemas.openxmlformats.org/officeDocument/2006/relationships/image" Target="/ppt/media/image17.jpeg" Id="Rf1d47a19e9384f00" /><Relationship Type="http://schemas.openxmlformats.org/officeDocument/2006/relationships/image" Target="/ppt/media/image.png" Id="R75926d3662104125" /><Relationship Type="http://schemas.openxmlformats.org/officeDocument/2006/relationships/notesSlide" Target="/ppt/notesSlides/notesSlide43.xml" Id="Reae7ab8808d040d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c281f4e74437d" /><Relationship Type="http://schemas.openxmlformats.org/officeDocument/2006/relationships/notesSlide" Target="/ppt/notesSlides/notesSlide44.xml" Id="Rec91dcb11d2a45f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a149ece5047e1" /><Relationship Type="http://schemas.openxmlformats.org/officeDocument/2006/relationships/image" Target="/ppt/media/image18.jpeg" Id="Reec301c4a3ba4676" /><Relationship Type="http://schemas.openxmlformats.org/officeDocument/2006/relationships/image" Target="/ppt/media/image19.jpeg" Id="R85289c1630bd429f" /><Relationship Type="http://schemas.openxmlformats.org/officeDocument/2006/relationships/notesSlide" Target="/ppt/notesSlides/notesSlide45.xml" Id="R67453176bcf8429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f5673150a4c01" /><Relationship Type="http://schemas.openxmlformats.org/officeDocument/2006/relationships/notesSlide" Target="/ppt/notesSlides/notesSlide46.xml" Id="R8dd8809a0e834b6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69a0000c1442d" /><Relationship Type="http://schemas.openxmlformats.org/officeDocument/2006/relationships/notesSlide" Target="/ppt/notesSlides/notesSlide47.xml" Id="R71811b323b734b4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b05fe7b464a99" /><Relationship Type="http://schemas.openxmlformats.org/officeDocument/2006/relationships/image" Target="/ppt/media/image2.png" Id="R5dabc2eaf9aa4586" /><Relationship Type="http://schemas.openxmlformats.org/officeDocument/2006/relationships/notesSlide" Target="/ppt/notesSlides/notesSlide48.xml" Id="R18fbdea4eac6409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10fd761ac47a9" /><Relationship Type="http://schemas.openxmlformats.org/officeDocument/2006/relationships/notesSlide" Target="/ppt/notesSlides/notesSlide49.xml" Id="R4463e152ff4c41b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1dee965d1481f" /><Relationship Type="http://schemas.openxmlformats.org/officeDocument/2006/relationships/notesSlide" Target="/ppt/notesSlides/notesSlide50.xml" Id="Ra8649ffa55ae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99D9E-8B45-4C68-9DA5-3BC1BC32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2E2E2"/>
                </a:solidFill>
              </a:defRPr>
            </a:pPr>
            <a:r>
              <a:rPr sz="4050" b="1">
                <a:solidFill>
                  <a:srgbClr val="E2E2E2"/>
                </a:solidFill>
              </a:rPr>
              <a:t>从脚本工具到网络应用平台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6EC28-4281-4E86-AA4C-5200F088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BF6D2"/>
                </a:solidFill>
              </a:defRPr>
            </a:pPr>
            <a:r>
              <a:rPr sz="1875" b="0">
                <a:solidFill>
                  <a:srgbClr val="2BF6D2"/>
                </a:solidFill>
              </a:rPr>
              <a:t>de-llaaddddeerr 项目演进、架构取舍与 MX-H2I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24CE7-04F4-4BFA-A326-B6D2C68D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F6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E04DB-D4F6-4D14-A4D2-1AD56106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AC4"/>
                </a:solidFill>
              </a:defRPr>
            </a:pPr>
            <a:r>
              <a:rPr sz="1425" b="0">
                <a:solidFill>
                  <a:srgbClr val="B7BAC4"/>
                </a:solidFill>
              </a:rPr>
              <a:t>OpenVPN · WireGuard · tc/iptables · Docker · Electron Plugin · AppCenter · K8s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758D3-93FA-4A4D-AE2E-6CE021A0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D8C"/>
                </a:solidFill>
              </a:defRPr>
            </a:pPr>
            <a:r>
              <a:rPr sz="1200" b="0">
                <a:solidFill>
                  <a:srgbClr val="777D8C"/>
                </a:solidFill>
              </a:rPr>
              <a:t>技术演讲稿 / 真实项目界面 + 原理拆解 + Demo 衔接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2134D-E13B-4DE0-95FB-7A9CF770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123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BF6D2"/>
                </a:solidFill>
              </a:defRPr>
            </a:pPr>
            <a:r>
              <a:rPr sz="4800" b="1">
                <a:solidFill>
                  <a:srgbClr val="2BF6D2"/>
                </a:solidFill>
              </a:rPr>
              <a:t>MX</a:t>
            </a:r>
          </a:p>
        </p:txBody>
      </p:sp>
    </p:spTree>
    <p:extLst>
      <p:ext uri="{BB962C8B-B14F-4D97-AF65-F5344CB8AC3E}">
        <p14:creationId xmlns:p14="http://schemas.microsoft.com/office/powerpoint/2010/main" val="1338960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9B7BABE7-8299-4831-88F3-D8DDA98E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OPENING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4F4548-B0E6-4153-AC77-FA63220F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真正持续演进的，是交付边界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8AB72-157F-4F08-9FF9-C7A6ACF4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8B91A-8F1E-43F1-B295-E63B6AA6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AC4C0-BE4D-422D-9825-8A387D62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7543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我们从“把一台机器连上网”，走到了“让身份、网络、应用与更新在多站点可治理”。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C41E2-8916-46CE-BD6F-FD016985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19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77D8C"/>
                </a:solidFill>
              </a:defRPr>
            </a:pPr>
            <a:r>
              <a:rPr sz="2100" b="1">
                <a:solidFill>
                  <a:srgbClr val="777D8C"/>
                </a:solidFill>
              </a:rPr>
              <a:t>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6CEC8-296C-4BA5-8D52-B5A815D4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DE2F7-7EE1-4A8E-8291-9C83584C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8EEC"/>
                </a:solidFill>
              </a:defRPr>
            </a:pPr>
            <a:r>
              <a:rPr sz="2100" b="1">
                <a:solidFill>
                  <a:srgbClr val="5E8EEC"/>
                </a:solidFill>
              </a:rPr>
              <a:t>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D8735-C83A-49B0-8A29-CA0305D1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67100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E52D9-25E7-4094-B788-3BF59C7B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86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BF6D2"/>
                </a:solidFill>
              </a:defRPr>
            </a:pPr>
            <a:r>
              <a:rPr sz="2250" b="1">
                <a:solidFill>
                  <a:srgbClr val="2BF6D2"/>
                </a:solidFill>
              </a:rPr>
              <a:t>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5CB65-88D0-496A-B74F-F630E08A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EA168-195C-4800-BB73-AB893B43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脚本阶段：解决能不能连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69D2F-4727-4212-81BD-FE3BF3B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98C03-57C1-4E3B-99F1-1EEE5D5A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Docker 阶段：解决能不能复用、运维和限速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13535-3FDE-437F-827D-C336499A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3FCD2-2B84-455F-B07C-53D5B12B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V1 阶段：解决能力能不能插件化、发布和被桌面应用消费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6C899-9444-434B-8746-7C551D2B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E3230-85C3-42AE-A73E-E9E835F5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V2 阶段：解决多身份、多应用、多站点与持续交付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94B93-F19C-482C-A6B3-6C8189C3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repository history + architecture docs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C0003-58FA-4CDE-914A-20B46F40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6041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38180BFB-3EEB-487E-A8AF-1458617E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EVOLUTION 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3FF515-1E9F-4F5D-88F8-4FCBDAF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五次边界迁移，构成一条连续主线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02CCF-0AF7-454E-B78D-A959A028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0710F-2619-4914-B524-F241116E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38500"/>
            <a:ext cx="571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F42CD-7CA3-4928-B370-C1C3F114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571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94A55-A0A6-4EFF-B682-0CDE5183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571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BBDE4-392B-4634-A824-A84BC480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571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74FF"/>
          </a:solidFill>
          <a:ln xmlns:a="http://schemas.openxmlformats.org/drawingml/2006/main" w="0">
            <a:solidFill>
              <a:srgbClr val="B97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FD4A6-FAD6-42FD-A7E4-7A3DB68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6002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47971-09B4-4841-9653-E3CCE411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Scripts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96200-62D6-420B-9B39-1782A9E5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295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OpenVPN / WG / tc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主机级自动化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74A9E-6AE7-4B5D-83F4-EDCEA6F2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D8C"/>
                </a:solidFill>
              </a:defRPr>
            </a:pPr>
            <a:r>
              <a:rPr sz="1050" b="1">
                <a:solidFill>
                  <a:srgbClr val="777D8C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ADE0A-40F1-403F-97FD-F517FB60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6002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3BC55-1947-43F0-8F19-D6310DA3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71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Docker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0ADBA-0C02-478A-B6FC-A18521F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95625"/>
            <a:ext cx="1295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WG + Mihomo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HY2 + Caddy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7D558-8A89-4533-B3BA-22471EA3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05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D8C"/>
                </a:solidFill>
              </a:defRPr>
            </a:pPr>
            <a:r>
              <a:rPr sz="1050" b="1">
                <a:solidFill>
                  <a:srgbClr val="777D8C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4C709-D7A8-471A-A9DF-ED2069B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28900"/>
            <a:ext cx="16002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F3F48-25DB-455E-929A-FA54826D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71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V1 Plugin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CFFDF-6A3A-4CAA-8F02-1E2C5F5D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1295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Market / Server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HDO / Tunnel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3D611-FAD0-472B-8152-889A2ADB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05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D8C"/>
                </a:solidFill>
              </a:defRPr>
            </a:pPr>
            <a:r>
              <a:rPr sz="1050" b="1">
                <a:solidFill>
                  <a:srgbClr val="777D8C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08529-2B38-4C34-BBE1-1ABD5F55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16002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EF891-D7F6-4154-8C64-8693F6D5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71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V2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C06D5-D244-48DA-963A-EBA2C531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95625"/>
            <a:ext cx="1295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Launcher / AppCenter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H2O / K8s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B9E8B-0D71-45DB-A262-9F76F519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05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D8C"/>
                </a:solidFill>
              </a:defRPr>
            </a:pPr>
            <a:r>
              <a:rPr sz="1050" b="1">
                <a:solidFill>
                  <a:srgbClr val="777D8C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FE9AD-4700-46CD-978A-824C87AE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8900"/>
            <a:ext cx="16002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D9009-5486-4DDF-AB54-640FE82E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71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Future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6451D-1F5A-4962-9305-328DA054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95625"/>
            <a:ext cx="1295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观测 / 抓包 / QoS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网络工具市场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69E62-B969-4DEA-9890-CCFF8935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05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7D8C"/>
                </a:solidFill>
              </a:defRPr>
            </a:pPr>
            <a:r>
              <a:rPr sz="1050" b="1">
                <a:solidFill>
                  <a:srgbClr val="777D8C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D4F8E-AB6A-49D6-AFA2-8CE2729E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1017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E2E2"/>
                </a:solidFill>
              </a:defRPr>
            </a:pPr>
            <a:r>
              <a:rPr sz="1800" b="1">
                <a:solidFill>
                  <a:srgbClr val="E2E2E2"/>
                </a:solidFill>
              </a:rPr>
              <a:t>每一步都没有推翻前一步：脚本里的路由、限速与订阅经验，最终进入平台的策略、应用和运维模型。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E7E24-66AA-466B-94B4-90D35762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git history · 2026-03 → 2026-07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C95578-650F-4C1D-9FC5-05D340A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1326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BA1760A7-C77E-4459-882A-1A9B90D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SCRIPTS · OPENVPN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9716FE-8A39-40B5-9B01-CE98667C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OpenVPN 脚本把“经验”第一次写成可重复流程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629FA-4B82-4BED-90A5-B1AC2EDB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D1171-69F7-45F9-A8A0-34A79CFC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自动完成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E3862-F60D-47AD-8AA3-94418FF1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A53B9-F013-4CF4-9C7C-C7FE4E91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发行版、TUN、root 与 NAT 环境探测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FFABF-34E0-4FE7-B4F4-9D3EDA7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8D741-34E5-4B78-92B7-3F147AB0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PKI、证书、服务端配置与客户端配置生成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9ED2F-30E2-4084-8149-0CE4BE10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8174D-D90E-497F-ADEA-8E802354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iptables / firewalld、转发、DNS 与持久化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22755-4DB0-4062-A466-9808CD7A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3689B-E4C4-4EB3-BD7A-E7AC2253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full / split / china-direct 等路由模式演进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30BBE-4540-45B9-8A7B-FC5F93AE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451485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1A1B23"/>
          </a:solidFill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C10DB-B840-44A2-BE5D-D3720980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8BC77"/>
                </a:solidFill>
              </a:defRPr>
            </a:pPr>
            <a:r>
              <a:rPr sz="1200" b="1">
                <a:solidFill>
                  <a:srgbClr val="48BC77"/>
                </a:solidFill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EE464-2AC4-415E-948B-9D5F06B9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一条脚本即可交付可用 VPN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F48A6-D39D-46C4-97B8-D95F497C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51EEE-6577-4AD3-8324-70F0ACDB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6067"/>
                </a:solidFill>
              </a:defRPr>
            </a:pPr>
            <a:r>
              <a:rPr sz="1200" b="1">
                <a:solidFill>
                  <a:srgbClr val="EE6067"/>
                </a:solidFill>
              </a:rPr>
              <a:t>代价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71355-DBD9-496A-B185-1165D159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62400"/>
            <a:ext cx="3733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BAC4"/>
                </a:solidFill>
              </a:defRPr>
            </a:pPr>
            <a:r>
              <a:rPr sz="1425" b="0">
                <a:solidFill>
                  <a:srgbClr val="B7BAC4"/>
                </a:solidFill>
              </a:rPr>
              <a:t>状态散落在主机、证书、规则与配置文件中；回滚和多人运维成本高。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892D8-09D2-4343-816A-E5B4118A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scripts/openvpn.sh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D2B97-37A3-4FAC-B09F-77D7A99B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4373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89A3BB0B-72D3-47C6-A449-2EB526EE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SCRIPTS · WIREGUARD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084D33-2C25-4453-B196-F364DE5F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WireGuard 把数据面变轻，却把编排问题暴露得更清楚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1AE52-B399-42A1-96E9-76491AC9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9B455-EFDB-4DAD-B33F-112BFF97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BC08A-5B9E-4A56-9F6D-370228C4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E2D25-8E56-44DA-98A6-A3CFE435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049C0-7F8C-49A3-807A-3FA20A2A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190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BB9E7-A0E3-41DA-8C2C-7642815F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717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Peer 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F8ED-0FA0-4BCC-98BD-AAC6FF6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公钥 / 私钥 / PSK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AFADD-027F-478E-A5F3-D360EF28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28900"/>
            <a:ext cx="2190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08396-D2DD-4CE0-A879-4E03145C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717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AllowedIPs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77CE2-E1D1-4FF1-A9CA-E2E96510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95625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地址分配与路由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1177A-C05C-4BC3-A220-59A452E3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2190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B7F4E-EA1A-4E5A-9A7B-B22A32DD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717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22E6F-4C3E-4481-BF2E-D306944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UDP + keepalive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95EA5-B388-44BE-B7B3-EE419F3B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28900"/>
            <a:ext cx="18478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1D446-D814-4586-A4A2-C0D4E83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717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FD9C4-83F4-41FA-9333-37A27A21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95625"/>
            <a:ext cx="154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add / revoke / rotate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CACD2-0C73-4A1E-8D20-D53507C7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994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E2E2"/>
                </a:solidFill>
              </a:defRPr>
            </a:pPr>
            <a:r>
              <a:rPr sz="1800" b="1">
                <a:solidFill>
                  <a:srgbClr val="E2E2E2"/>
                </a:solidFill>
              </a:rPr>
              <a:t>比 OpenVPN 更适合作为稳定、低开销的基础链路；但 peer、IP、密钥、路由和生命周期需要新的控制面。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34627-C49C-41A1-AE5B-CF60A7E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626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F5C64-F3D3-4EEE-811E-981B0BA9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F6D2"/>
                </a:solidFill>
              </a:defRPr>
            </a:pPr>
            <a:r>
              <a:rPr sz="975" b="1">
                <a:solidFill>
                  <a:srgbClr val="2BF6D2"/>
                </a:solidFill>
              </a:rPr>
              <a:t>10.7.0.0/24 · 253 peers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BDAC9-D4E9-4350-8D2D-E81D835C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scripts/wireguard.sh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38888-8EF6-4BAD-87F3-2B3FF471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6822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6B04DBDC-59E1-4F98-8E29-F315FA6A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SCRIPTS · TRAFFIC CONTROL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092DA5-8096-4A97-B582-53EC872B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iptables + tc 让网络第一次具备“服务等级”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E2E07-DFF9-48FB-AF60-0789B39C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2D211-DD31-4660-8EC6-B03C2719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BF6D2"/>
                </a:solidFill>
              </a:defRPr>
            </a:pPr>
            <a:r>
              <a:rPr sz="2250" b="1">
                <a:solidFill>
                  <a:srgbClr val="2BF6D2"/>
                </a:solidFill>
              </a:rPr>
              <a:t>tun0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64384-5C7B-4506-9813-23C5E881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24125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EED2C-DD05-4476-9C09-A1E63958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2000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1547B-0B28-473D-8F72-A43A1288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764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HTB root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EF516-4026-44BA-A058-7DCA41EE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10 mbit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91403-1BAD-4A7D-A04D-FB9A51F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12A8C-495B-4023-8B14-166C5D15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2095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AA80F-95DA-4848-A08A-2812EA7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per-IP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A9D40-017E-48F8-884F-CF072ECE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0325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rate / ceil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9CBC0-1822-4026-B77C-9238FF61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B7900-D6E8-48EC-BEB5-03FD3245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2095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DEB01-BB99-431C-8C1A-D4A9AF0A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7647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u32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C1615-3770-441D-819D-452D07D9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0325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dst CIDR → flowid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4B060-4EE0-46E8-A588-DF7B5857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17E9E-DE07-4375-8297-0DDAE26C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BC77"/>
                </a:solidFill>
              </a:defRPr>
            </a:pPr>
            <a:r>
              <a:rPr sz="1500" b="1">
                <a:solidFill>
                  <a:srgbClr val="48BC77"/>
                </a:solidFill>
              </a:rPr>
              <a:t>当时的突破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2474A-4E89-4058-8DA5-44DDE97F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2E2E2"/>
                </a:solidFill>
              </a:defRPr>
            </a:pPr>
            <a:r>
              <a:rPr sz="1725" b="1">
                <a:solidFill>
                  <a:srgbClr val="E2E2E2"/>
                </a:solidFill>
              </a:rPr>
              <a:t>可以按 10.8.0.x 给不同用户配置 3 / 6 / 9 mbit 上限，连接能力开始拥有 QoS。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9378A-2F6B-45AE-9835-16ABDC2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D06C"/>
                </a:solidFill>
              </a:defRPr>
            </a:pPr>
            <a:r>
              <a:rPr sz="1500" b="1">
                <a:solidFill>
                  <a:srgbClr val="F8D06C"/>
                </a:solidFill>
              </a:rPr>
              <a:t>当时的局限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2F5C3-1570-4484-9EA7-7DDFBCCF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IP 与策略硬编码，规则只在单机可见；缺少配置中心、审计、指标与自动恢复。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94728-268B-4D8A-89AF-A62515EE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scripts/iptables_tc.sh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D759E-1CAB-4EFD-B8C2-CD9F200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65099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B90A1396-CEA3-44C1-94AC-F77AF8A7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SCRIPTS · LESSONS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05AB8-575F-43F5-8430-BF118306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脚本阶段的瓶颈，不是协议，而是状态没有归属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5B8B6-C0CF-4A1C-BA20-50A8986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047750" y="2095500"/>
          <a:ext xmlns:a="http://schemas.openxmlformats.org/drawingml/2006/main" cx="100965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60510"/>
                <a:gridCol w="3296816"/>
                <a:gridCol w="4739173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状态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脚本阶段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后续需要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身份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客户端名 / IP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用户、设备、安装实例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配置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/etc + shell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版本化快照与策略中心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运维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登录主机执行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幂等操作、审计、回滚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交付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复制脚本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镜像、插件、应用、Release Center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27117-4BAE-46D1-BCC2-878A4480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BF6D2"/>
                </a:solidFill>
              </a:defRPr>
            </a:pPr>
            <a:r>
              <a:rPr sz="1950" b="1">
                <a:solidFill>
                  <a:srgbClr val="2BF6D2"/>
                </a:solidFill>
              </a:rPr>
              <a:t>下一步自然发生：把运行时和配置一起封装。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09448-EAE8-4396-8947-D8F35E83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scripts/*.sh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9532D-F886-4C6D-8E16-11BAEDD1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5235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660D6F59-54E0-42FF-8DF2-941AF1AD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DOCKER TRANSITION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61254B-312B-46CA-85DE-8BFDF919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Docker 把单机脚本升级成可复制的服务单元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A4319-62A0-4E5E-A1E7-CEF6A216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2BF52-6C4C-40ED-BB17-B1F54AB8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66528-9B57-44B9-9568-23C6185F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6972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从“运行一个命令”变成“交付一套有拓扑、有数据、有生命周期的 Stack”。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624E1-03D1-44B5-8935-BA4D915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190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75AFE-AFFC-4BCC-B2BE-629A6B7E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240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Compose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F7C8F-5174-4037-8ACC-6FE72C5F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479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服务拓扑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33E6B-282B-41EF-9301-B8863992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62300"/>
            <a:ext cx="2190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FEC9C-A090-4443-8D6F-159EBE6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051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.env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EF53A-F9E9-492A-8D54-1F65E58A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290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可变配置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30EBE-4859-46B2-BA51-7F1F6CAC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190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D2E7B-530D-4E8A-9ACD-B201B4C3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manage.sh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CD276-1F7A-4ECF-A35B-B2F39CB5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101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运维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0783F-C56E-44E3-971B-772A0766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7B554-CAF8-4B49-A763-B63D1606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2E2"/>
                </a:solidFill>
              </a:defRPr>
            </a:pPr>
            <a:r>
              <a:rPr sz="1575" b="0">
                <a:solidFill>
                  <a:srgbClr val="E2E2E2"/>
                </a:solidFill>
              </a:rPr>
              <a:t>容器镜像固定依赖与启动顺序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481A5-FC08-4AA4-B4B7-3CB9058D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C0767-185F-47C2-95A7-B5534E4F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2E2"/>
                </a:solidFill>
              </a:defRPr>
            </a:pPr>
            <a:r>
              <a:rPr sz="1575" b="0">
                <a:solidFill>
                  <a:srgbClr val="E2E2E2"/>
                </a:solidFill>
              </a:rPr>
              <a:t>数据目录、订阅文件和证书可持久化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BD09B-7A54-4D63-88DF-A4F668D4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23DC77-C94D-46D2-BE20-650A4CB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2E2"/>
                </a:solidFill>
              </a:defRPr>
            </a:pPr>
            <a:r>
              <a:rPr sz="1575" b="0">
                <a:solidFill>
                  <a:srgbClr val="E2E2E2"/>
                </a:solidFill>
              </a:rPr>
              <a:t>setup / add-user / del-user / set-limit 形成操作面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1850C-84FE-46E0-A4F4-6B612D69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35EEE-DC1B-470D-ADA6-D5A41999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2E2"/>
                </a:solidFill>
              </a:defRPr>
            </a:pPr>
            <a:r>
              <a:rPr sz="1575" b="0">
                <a:solidFill>
                  <a:srgbClr val="E2E2E2"/>
                </a:solidFill>
              </a:rPr>
              <a:t>同一套模式可以迁移到不同云主机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8409E-E001-4DEB-A147-1C10B4E0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docker/wg-mihomo-stack · docker/hysteria2-mihomo-stack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22E38-C554-427E-BC06-765DAD3C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0857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23537D59-92B6-4FF6-B1CC-52A4DB67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DOCKER · WIREGUARD STACK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2B4EB0-643F-45B7-9D4B-74DD565C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wg-mihomo-stack：稳定内网链路 + 可消费订阅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0DEBD-7812-4F57-BF75-465285A8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5182F-A942-433A-8E95-16189AD8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990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E5B42-29D2-43A2-8262-7D0F4BC0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B7335-7F81-47D2-B76F-4084AC6C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B390A-80BF-4811-BE0A-3219BCA6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0764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3B4F0-BF47-442F-BB91-1742D98E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WireGuard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53560-D623-45F8-9879-535E4D4B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lsio image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UDP 51820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B0941-3B53-411F-8F9D-410520A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0300"/>
            <a:ext cx="25336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E3415-8DF7-486D-BCBF-8799DF7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431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Peer profiles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62219-D477-4C0F-B0A4-B338953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67025"/>
            <a:ext cx="222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peer conf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per-user 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ECBE4-FAFD-4DE9-8156-3D0A9B56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24765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267A1-126E-42E2-A11E-A133AF81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4317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Mihomo YAML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7B6E2-1685-4DAD-98BF-BC7172F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67025"/>
            <a:ext cx="2171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cn-direct / global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09DFE-ED89-41C0-AD47-8F0E0402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00300"/>
            <a:ext cx="1143000" cy="139065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1458E-ED96-4D7C-A623-A36AAE55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431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Caddy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6DF03-CF99-42A3-833B-E01D2E87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6702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Basic Auth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订阅出口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1CC1F-D8CE-4325-8CDE-E2A14DCF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E2E2"/>
                </a:solidFill>
              </a:defRPr>
            </a:pPr>
            <a:r>
              <a:rPr sz="1800" b="1">
                <a:solidFill>
                  <a:srgbClr val="E2E2E2"/>
                </a:solidFill>
              </a:rPr>
              <a:t>网络层与客户端消费格式被拆开：WireGuard 负责隧道，导出器负责把 peer 转成 Mihomo 可用订阅。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47D6C-D822-4AD6-AF3B-77CD1678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docker/wg-mihomo-stack/docker-compose.yml · scripts/export-wg-mihomo-stack.sh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0FCF6-3B97-4569-B53A-7265D287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0431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8F57C54E-749F-417A-A3F1-581E3E49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DOCKER · OPERATIONS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0DE458-205C-4DA2-80EF-7056939F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manage.sh 把用户与限速变成可操作对象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80E69-DE19-4861-907B-CCB78543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E9A57-8DE9-449E-94C3-89B2BDE9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生命周期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857E9-3736-4DA9-A216-A0775445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E2E2"/>
                </a:solidFill>
              </a:defRPr>
            </a:pPr>
            <a:r>
              <a:rPr sz="1800" b="1">
                <a:solidFill>
                  <a:srgbClr val="E2E2E2"/>
                </a:solidFill>
              </a:rPr>
              <a:t>setup  →  add-user  →  export  →  set-limit  →  reapply  →  destroy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2ADCB-1DE9-4016-AF0D-AE642976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1E996-A8DB-4CD2-8E56-4FE42626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3812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AE322-E1AC-4B27-897D-FC1B0B65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BC9C2-0CF2-46AB-A3C3-D76D6FBC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peer name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10.x.x.x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AE8D4-0753-4F40-83C3-421B10A2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23812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C8BE0-30AB-4168-88E9-E78A6532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订阅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B9E7-353F-480C-89F1-D1256F6E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195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Basic Auth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YAML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D3CE1-9218-4523-9D42-33A60FA6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52850"/>
            <a:ext cx="23812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3B5E3-5BE1-4933-BA8D-F53BADEC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957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QoS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2CF6C-3604-4846-B27A-3B01D7EB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95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down/up rate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HTB + IFB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5EA17-7BD8-40C6-9B0D-D205E343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3812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33724-ABD4-48F9-81F4-06F36936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957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29C3D-C130-4DF6-A772-811ECCC0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9575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reconfigure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reapply-limits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EECA1-C3D3-443A-844A-CA1F7FAB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36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优点：自动化与可重复性明显提升。代价：用户真相仍在 CSV/.env/文件系统，缺少统一身份与审计。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137C7-8E7A-4ABF-BDEB-6B18268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docker/wg-mihomo-stack/manage.sh · scripts/wg-tc-limit.sh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EC678-884B-4557-822A-5F7572D4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46106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652322DB-439B-4BD0-A698-F4F98E3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DOCKER · HYSTERIA2 STACK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CC16B8-9DC2-4B01-904C-11968ADC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hysteria2-mihomo-stack：把外网接入与用户订阅系统化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F2DC8-11DD-4A56-B076-E92A8F88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52BB9-DF36-4A93-9E9C-BE7FB81B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1ED2E-9397-4B0D-B6DA-3E463237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F2DED-A24F-4509-A9F0-0259E9FB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8CC10-8036-48B8-B3DA-843034D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1336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72512-C95E-422D-8F26-00ED9597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users.csv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2ECA1-C143-4530-8A7A-01817AA1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1828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name / auth / up / 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820F6-84D8-405C-9BAB-5078C01B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26670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B8EC3-C606-41D2-AE74-73DD615D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622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Hysteria2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8586A-BDEA-4AA3-B965-20BA89D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86075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UDP access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per-user auth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47D24-8171-447D-80CC-920905F6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24193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6D811-29C8-4F09-B6C9-8C1A287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622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Mihomo 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34E80-3D5A-48B6-AFBA-CCCA314F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86075"/>
            <a:ext cx="2114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managed YAML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node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6EBE3-37D2-4BEA-A0BE-0449F444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19350"/>
            <a:ext cx="1200150" cy="13906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8044E-89F8-49A5-9CA3-1A05B1E5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622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Caddy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D4FB3-A223-406E-9A65-E553F722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86075"/>
            <a:ext cx="895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health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订阅出口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4A3AB-4E95-423A-8952-195D82D6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1005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E2E2"/>
                </a:solidFill>
              </a:defRPr>
            </a:pPr>
            <a:r>
              <a:rPr sz="1800" b="1">
                <a:solidFill>
                  <a:srgbClr val="E2E2E2"/>
                </a:solidFill>
              </a:rPr>
              <a:t>add-user / set-limit 不需要重启 Hysteria2，只刷新用户注册表与订阅；更适合多用户外网接入。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7AE4F-80BD-4F41-A4CC-E796F7F8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4191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F0042-479D-43A5-8092-DE799C88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24500"/>
            <a:ext cx="403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F6D2"/>
                </a:solidFill>
              </a:defRPr>
            </a:pPr>
            <a:r>
              <a:rPr sz="975" b="1">
                <a:solidFill>
                  <a:srgbClr val="2BF6D2"/>
                </a:solidFill>
              </a:rPr>
              <a:t>当前默认：30 Mbps down / 30 Mbps 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9BFAC-19F3-4304-B9CB-9231EA6B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docker/hysteria2-mihomo-stack/manage.sh · docker-compose.yml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EEF70-E31B-4163-B164-E7D4C980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83670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BD2747D8-3AC3-42F7-8771-2602B99B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DOCKER · TRADE-OFFS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244408-D777-4FEB-BF8D-5F247017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两套 Stack 不是替代关系，而是两种数据面角色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7F993-6301-4DA2-9DAE-867489AE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81050" y="1962150"/>
          <a:ext xmlns:a="http://schemas.openxmlformats.org/drawingml/2006/main" cx="106299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25980"/>
                <a:gridCol w="4251960"/>
                <a:gridCol w="425196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维度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WireGuard + Mihomo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Hysteria2 + Mihomo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角色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稳定内网 / relay fabric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外网 access / 弱网穿透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身份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peer key + IP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user auth + subscription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QoS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tc / IFB 精细控制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用户 up/down 参数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优势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简单、确定、可证明路由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UDP 适应性、用户运营更直接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挑战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peer/IP 生命周期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证书、端口、订阅与流量策略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8AD56-847A-415C-956B-66E8A6E2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F6D2"/>
                </a:solidFill>
              </a:defRPr>
            </a:pPr>
            <a:r>
              <a:rPr sz="1650" b="1">
                <a:solidFill>
                  <a:srgbClr val="2BF6D2"/>
                </a:solidFill>
              </a:rPr>
              <a:t>V2 的选择：Domestic/Internal 用 WG 建可信路径；Home 拿到订阅后，外网流量直连 Oversea。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F304F-726F-481D-BC0E-F4E1174D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docker stacks · docs/05-hdo-multi-site-platform-architecture.md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CE7CB-0291-4522-BC3A-9F427B76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59314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B394AC6B-FF02-466D-B9CF-E6CE2A5A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V1 · RELEASE/HDO_V1.0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6F1683-11A6-4079-B415-C092ED27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V1 的跃迁：网络能力开始被“应用”消费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BCA26-02C0-413B-9847-1A324D97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56564-F387-4DB1-B897-FA88C315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3E333-7FD3-46E1-8C1F-B3A19D27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7639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部署脚本解决服务器；插件体系解决桌面端如何发现、安装、授权和运行网络能力。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8DFDA-F156-432E-8C33-A25617CF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20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D0391-9142-4845-BE40-9BE6F078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431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electron-plugin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67C51-191F-4F73-A1F8-76D3DB44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669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runtime + engines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EA643-D47F-430E-9DFE-F098D1BE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20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28988-03D3-4059-BCC3-C6201A90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861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electron-market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0155A-9E15-4562-AD15-99E2E9B0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99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install + permissions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D1A28-9812-4ED0-9718-37645EA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20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EAB32-740D-4418-939B-73528A49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291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electron-server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88C8C-4CDA-4169-9DD9-2F76D43D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529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catalog + auth +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22888-3365-47A7-A80F-F8DFA808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4069F-BD51-4D8D-8EA9-2084E97A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2E2"/>
                </a:solidFill>
              </a:defRPr>
            </a:pPr>
            <a:r>
              <a:rPr sz="1575" b="0">
                <a:solidFill>
                  <a:srgbClr val="E2E2E2"/>
                </a:solidFill>
              </a:rPr>
              <a:t>HDO：自研 Home / Domestic / Oversea 连接产品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3E1E9-2DD1-4017-A7B9-A90BFF3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C2762-9E04-45C0-8FE1-AEEA18AD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2E2"/>
                </a:solidFill>
              </a:defRPr>
            </a:pPr>
            <a:r>
              <a:rPr sz="1575" b="0">
                <a:solidFill>
                  <a:srgbClr val="E2E2E2"/>
                </a:solidFill>
              </a:rPr>
              <a:t>Tunnel：把外网访问封装为可复用插件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3559A-F38A-4458-BE16-0557D301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A6F5D-D310-4400-A9C5-22E930A9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2E2"/>
                </a:solidFill>
              </a:defRPr>
            </a:pPr>
            <a:r>
              <a:rPr sz="1575" b="0">
                <a:solidFill>
                  <a:srgbClr val="E2E2E2"/>
                </a:solidFill>
              </a:rPr>
              <a:t>Market：嵌入宿主进程的插件市场与管理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ED904-D862-4372-BEEE-08E23F6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06B6A-1CEC-45B7-B108-275EBAFE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E2E2"/>
                </a:solidFill>
              </a:defRPr>
            </a:pPr>
            <a:r>
              <a:rPr sz="1575" b="0">
                <a:solidFill>
                  <a:srgbClr val="E2E2E2"/>
                </a:solidFill>
              </a:rPr>
              <a:t>Server：与桌面发布节奏解耦的后端控制面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88966-4A9C-484E-BE01-D76CE6A0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release/hdo_v1.0 worktree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BE215-D1E2-486F-BAD6-8BD657D3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30860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322581EC-2253-4989-BB7A-1ACF3D6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V1 · PLUGIN RUNTIME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57AA05-F286-4BA8-A1EC-4DF14FF0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插件安装有三条路径，最终落到同一运行时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94217-DE21-44A0-BCC1-D633AEFA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8269E-D283-400E-BA89-ABA177D6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289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35496-80E3-4775-8BA4-6F8FBFC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289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44E12-EB30-43F5-9C48-C6C9B1E0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19E24-9D3D-4FED-9F59-9354365E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3622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6459D-F8AB-487C-9E2D-503B105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Standalone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90E8D-115A-4436-9340-37606DD1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直接创建 Tunnel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3877C-EAEC-424B-A6C1-5D771DB6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21336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2E744-4BA2-4C62-B8CD-B9722E52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05850-E5E5-46E4-B30E-CCB1D8C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86075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宿主离线内置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87FE4-F2F8-4469-B7AA-D1B05C06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21336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2C441-F251-4242-8747-76154E05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622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Marketplace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1C5B7-1688-4474-9602-09BBBA3C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86075"/>
            <a:ext cx="1828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用户在线安装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B2529-D37A-456D-8FDB-2991D387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86000"/>
            <a:ext cx="19621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F1E2D-8544-45BA-B794-B7E7F366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28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PluginRuntime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5E60D-446C-4BAB-B577-60071156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52725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manifest · permission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activate / deactivate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AB391-B8FB-483F-BAA8-3EEA362E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1005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E2E2"/>
                </a:solidFill>
              </a:defRPr>
            </a:pPr>
            <a:r>
              <a:rPr sz="1800" b="1">
                <a:solidFill>
                  <a:srgbClr val="E2E2E2"/>
                </a:solidFill>
              </a:rPr>
              <a:t>网络依赖插件市场时，Seed 先保证 Tunnel 可用，再让 Marketplace 上网——这是后续 bootstrap 设计的重要经验。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A2B54-D67D-4DD5-BB58-0D52289D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electron-market/README.md · docs/BOOTSTRAP_AND_INSTALL.md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122F5-1C13-4AFD-8B25-D9CB1F9D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546460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65297EE7-027F-4DE6-94E9-4CC3E15A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V1 · REPOSITORY BOUNDARIES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E0D809-F41A-405E-B8EC-81F54269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分类分库让发布节奏解耦，也带来一致性成本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55334-7904-4897-B7E2-03D0181D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C3D91-800D-4D89-9E2D-454B7827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F6D2"/>
                </a:solidFill>
              </a:defRPr>
            </a:pPr>
            <a:r>
              <a:rPr sz="1650" b="1">
                <a:solidFill>
                  <a:srgbClr val="2BF6D2"/>
                </a:solidFill>
              </a:rPr>
              <a:t>electron-market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FF7C8-EE46-44ED-B1A9-91AF6E4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客户端市场、SQLite、权限与运行时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6FADB-5DFD-4D7D-B86B-702D4E93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8AA25-B9B6-4CE9-9B5C-7E148D9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8EEC"/>
                </a:solidFill>
              </a:defRPr>
            </a:pPr>
            <a:r>
              <a:rPr sz="1650" b="1">
                <a:solidFill>
                  <a:srgbClr val="5E8EEC"/>
                </a:solidFill>
              </a:rPr>
              <a:t>electron-plugin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17A7F-F9A1-4055-B616-18259B6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718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Tunnel/HDO 插件、mihomo/WG engines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34CE0-79B1-4244-BBF4-8353D421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3BF94-F478-479A-B683-6F99515C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74FF"/>
                </a:solidFill>
              </a:defRPr>
            </a:pPr>
            <a:r>
              <a:rPr sz="1650" b="1">
                <a:solidFill>
                  <a:srgbClr val="B974FF"/>
                </a:solidFill>
              </a:rPr>
              <a:t>electron-server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28DCE-40E3-4363-A51C-1214BC43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052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Postgres、用户、发布、审计与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265DC-6859-4A06-8FEC-FB1F399B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BCF46-6745-45B0-B14D-22CE9BF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D06C"/>
                </a:solidFill>
              </a:defRPr>
            </a:pPr>
            <a:r>
              <a:rPr sz="1650" b="1">
                <a:solidFill>
                  <a:srgbClr val="F8D06C"/>
                </a:solidFill>
              </a:rPr>
              <a:t>electron-demo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C1AC8-3269-46E5-9D97-0071BFF6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387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HDO / Tunnel 可消费样例与打包路径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12B5D-A65C-4045-B52A-677DFB07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BAC4"/>
                </a:solidFill>
              </a:defRPr>
            </a:pPr>
            <a:r>
              <a:rPr sz="1650" b="1">
                <a:solidFill>
                  <a:srgbClr val="B7BAC4"/>
                </a:solidFill>
              </a:rPr>
              <a:t>取舍：独立发布与复用性提高；版本矩阵、DTO 对齐、原生依赖和跨平台打包变得更难。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00073-8F9E-4174-A13A-85B01353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electron-market · electron-plugin · electron-server · electron-demo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B0DEB-6B98-449A-83E8-229D0D5A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57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68180FAC-FB79-46AF-BC5C-D1E8438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V1 · HDO INTERFACE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1EA56-FE28-4625-8BA7-D2087DE3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V1 HDO 已经把匿名、账号网段与高级运维放进桌面端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44CDC-128B-486D-A7F7-42BA49DB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40cd011fa4e4b"/>
          <a:stretch xmlns:a="http://schemas.openxmlformats.org/drawingml/2006/main"/>
        </p:blipFill>
        <p:spPr>
          <a:xfrm xmlns:a="http://schemas.openxmlformats.org/drawingml/2006/main">
            <a:off x="1795207" y="1847850"/>
            <a:ext cx="4867786" cy="4114800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A8B1F-1F78-4279-BFD4-8589C6AD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界面证据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D9238-CCCF-4B2A-A27E-EFE00B3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81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85C44-9A5C-4445-BF34-6A210EB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匿名线路与账号线路切换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8B36E-AAFA-4F7A-B65B-7EBC7A50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D4C0A-1053-4960-8DFA-60931F9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H2I relay 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D4BE3-DFEE-4869-9A70-F1482AE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9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A8900-D4EC-4F80-97F0-B5DA85D4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系统 PAC 与 DNS 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685ED-E65E-482C-ACBA-7BD3BE7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243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5A74A-D699-4E80-B364-9DE8FF17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服务地址、更新与市场入口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C815E-C93E-4F2E-9CB6-AA8D3F11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05400"/>
            <a:ext cx="2190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48BC7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5DB11-704E-404C-BE40-8510A7A1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435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8BC77"/>
                </a:solidFill>
              </a:defRPr>
            </a:pPr>
            <a:r>
              <a:rPr sz="975" b="1">
                <a:solidFill>
                  <a:srgbClr val="48BC77"/>
                </a:solidFill>
              </a:rPr>
              <a:t>真实 renderer 截图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2DFB6-1644-4828-9F3C-E684A382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release/hdo_v1.0 · electron-demo/hdo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13A81-D9D5-442F-A375-F41552AE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564221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AE06795-2AD6-4736-8222-437DB45D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V1 · HDO CONTROL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69A8C1-2D94-461A-BE00-444DFBA7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HDO V1 把连接、身份、DNS 与 PAC 串成一条用户路径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1A098-30A6-4858-9CBA-D255E5B2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FA847-8C31-45A4-8E7C-12049C20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80F3A-58E3-4714-9508-B458BE1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99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98AD6-5F97-4AF0-BE25-1313DED0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86227-3619-4582-98F9-A509EEFF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114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652BE-6C02-4D28-968C-F8344E24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匿名 bootstrap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9991E-AC6B-46F7-A58B-721E37D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先拿访客配置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C043D-6B00-45A1-898A-902F69EC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0955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0D781-4F99-4A09-B42E-11D257FB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2412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账号登录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0CF0B-6440-4597-929A-9E3F374A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切换账号网段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DBCB2-F215-4857-A519-6C179F30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20955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3461A-7FD7-409D-AC4C-DC8F0592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2412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WG / H2I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66F70-1FCB-4E2D-8D89-0BBD9898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47975"/>
            <a:ext cx="179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建立内部路径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A02F3-4E25-4471-AD4D-1031F2B4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21907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CD5C4-1643-4337-815E-93DAE42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PAC + DNS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CCE8E-6CD8-42A7-9334-BDE0316F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47975"/>
            <a:ext cx="1885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浏览器与系统域名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1895C-6E66-4E0D-B80F-98EED370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V1 证明用户体验可成立；但客户端承担太多：网络、市场、HDO、Tunnel、更新与系统权限互相缠绕。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4E135-C425-4D48-9231-D276FC24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electron-demo/hdo/src · electron-plugin-hdo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F7A4B-62BE-4DE4-979E-5D08BE74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910691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FE6F69B-ECE6-4922-AF5F-114F5944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V1 · TUNNEL INTERFACE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FD0B34-98A3-40C5-9B91-C7BA9E0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Tunnel V1 让网络能力第一次成为可安装插件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1954B-2AE8-43B2-86DC-F8C7B61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7042c67cf4b9d"/>
          <a:stretch xmlns:a="http://schemas.openxmlformats.org/drawingml/2006/main"/>
        </p:blipFill>
        <p:spPr>
          <a:xfrm xmlns:a="http://schemas.openxmlformats.org/drawingml/2006/main">
            <a:off x="2030221" y="1790700"/>
            <a:ext cx="4397758" cy="4267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92DB3-3ADB-45D5-92C9-94512F03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同一插件支持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77B2A-27D2-4F3D-B16E-DF62FD2D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11FCF-8127-4A2E-8436-733D1453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App 规则模式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1A93C-2ED2-4CE5-A00E-EA5E5F78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50ED2-1ED7-4885-8396-FB0F1DAD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App 全局模式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1FF5E-C1C6-48F5-BDBC-1F49E8EC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24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86C88-743D-41B1-B484-A167E717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系统 TUN 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7F79C-2B27-4D05-AB6A-2FC3D33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767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F74BA-8CEE-4E42-881E-886231BA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6720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离线 seed 与市场安装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2C36F-7895-4211-BC5D-DD8FE1E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244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BAC4"/>
                </a:solidFill>
              </a:defRPr>
            </a:pPr>
            <a:r>
              <a:rPr sz="1350" b="0">
                <a:solidFill>
                  <a:srgbClr val="B7BAC4"/>
                </a:solidFill>
              </a:rPr>
              <a:t>只有 system-tun 进入特权路径；App 模式不请求 OS 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20776-DF79-447A-AE6D-80B6086F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release/hdo_v1.0 · electron-demo/tunnel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3152F-1565-47CF-A711-7432F011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265501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4DE43CF2-9302-4B94-8945-B95C38D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V1 · TUNNEL BACKEND MODE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8A51F3-176A-4C2C-AD88-CEDD77DE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后端模式把订阅、规则与用户策略送到本地运行时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9E784-3CAE-42DC-9246-FFA9FF0B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c5b92f17a4144"/>
          <a:stretch xmlns:a="http://schemas.openxmlformats.org/drawingml/2006/main"/>
        </p:blipFill>
        <p:spPr>
          <a:xfrm xmlns:a="http://schemas.openxmlformats.org/drawingml/2006/main">
            <a:off x="2219494" y="1809750"/>
            <a:ext cx="3904911" cy="4286250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7C021-301F-493E-B965-DF38211D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控制流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0E592-7FD2-409D-9722-06C30C08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2857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5009D-870F-4732-A0DB-7070FBD4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D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86519-9EE6-4E9F-BB30-80B89B5A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login +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442FE-E935-479C-9292-9648BE0E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71850"/>
            <a:ext cx="571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B412C-EAFE-4407-A0C9-0621E743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2857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950E0-1044-41EE-A76A-5E7A1289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95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Tunnel plugin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5130D-669E-46C6-A6E0-A660E3FD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433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subscription +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1DF63-1528-481E-B4A4-9BE6DF7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91050"/>
            <a:ext cx="571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F8029-2DB7-4AFD-8849-7B4171C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2857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59084-8FB7-48F1-BDC6-E42379C0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387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mihomo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F3FEE-04BA-439F-B691-E1E7F78D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625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proxy / TUN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F2996-39F6-4FBE-A3F7-0054728B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electron-demo/tunnel/src · electron-plugin-tunnel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AD640-ABD0-4F2E-88B8-EE662B86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39200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70D1358-6E05-4C79-B7A2-10C47174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V1 · TRADE-OFFS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3798D0-3605-4476-A46E-E91725A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V1 证明方向可行，也暴露三条必须重构的边界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C526E-A5F5-466C-9A0E-73AEF7D7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F313F-57DD-41A7-BE0D-192D9E00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EE60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BBBFA-3DDA-41AB-B778-14694EF6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进程隔离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B9AAB-B278-4A66-8D84-0AAAA3A8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in-process runtime 已完成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utilityProcess 延后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92872-8970-4C61-8188-E2A00D0A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65173-7DBC-447A-9907-99FA70C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336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供应链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8CD9C-D942-4C43-833B-D20B739A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57475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插件 tarball 签名延后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verified 仍偏索引字段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16615-5C46-402C-8C76-238A8A78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1945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69C28-DE96-48A3-B95E-EC546494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管理入口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3EC61-FAA3-4CC9-BD10-8228E5A9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admin port Bearer auth 延后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客户端/服务端职责仍重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EDEDC-8C3D-42E9-A701-58B3F8B1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3444E-7366-4834-8685-86E48C5C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948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V2 不只是 UI 升级；它把网络所有权、应用运行时与多站点控制面重新分层。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53E66-8921-435A-A311-17F5D7EF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electron-market/README.md · V1 status 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9BB25-36CC-4B5F-95B2-48441504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590554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C2248C81-9B5B-433D-BD27-064A8C5E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MX-H2I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B92A71-DCD5-4172-819C-FEA2D806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V2 的核心：Launcher 成为可复用的网络与应用底座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92F9E-40E8-4013-B541-814712B7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CCD69-D40E-433F-B823-A310AF5D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Standalone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E2C7D-9108-4E9C-AFA5-99CA5F23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E2E2"/>
                </a:solidFill>
              </a:defRPr>
            </a:pPr>
            <a:r>
              <a:rPr sz="1875" b="1">
                <a:solidFill>
                  <a:srgbClr val="E2E2E2"/>
                </a:solidFill>
              </a:rPr>
              <a:t>MX-H2I 持有身份、网络、系统权限、更新与 broker channel。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9EAC5-C009-46B6-A188-DD1D5B2D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66F2E-47D6-454F-BCC2-79EAF05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74FF"/>
                </a:solidFill>
              </a:defRPr>
            </a:pPr>
            <a:r>
              <a:rPr sz="1350" b="1">
                <a:solidFill>
                  <a:srgbClr val="B974FF"/>
                </a:solidFill>
              </a:rPr>
              <a:t>Embed apps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50279-4854-4471-AED7-4F475C2C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E2E2"/>
                </a:solidFill>
              </a:defRPr>
            </a:pPr>
            <a:r>
              <a:rPr sz="1875" b="1">
                <a:solidFill>
                  <a:srgbClr val="E2E2E2"/>
                </a:solidFill>
              </a:rPr>
              <a:t>AppCenter / H2O 复用 broker-session，不再重复申请 WireGuard lease。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A0540-9CFC-4DCD-B9E0-D3D319A4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36195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EC9BC-3EF0-4EF0-A47B-188FD507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8602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Launcher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7EF9A-D73C-4BB5-8AE2-7C52125F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9875"/>
            <a:ext cx="331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auth · network · permission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release · broker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0BA98-DF53-4949-986D-7C011E1B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F6D2"/>
                </a:solidFill>
              </a:defRPr>
            </a:pPr>
            <a:r>
              <a:rPr sz="1725" b="1">
                <a:solidFill>
                  <a:srgbClr val="2BF6D2"/>
                </a:solidFill>
              </a:rPr>
              <a:t>一次建立底座，多个应用消费能力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80B20-4BF1-4C11-83DF-AD541963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docs/14-mx-h2i-standalone-launcher-architecture.md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521A8-1B39-4443-B3D1-827AF89C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741136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72A0B512-0FEE-4BA1-8B93-40986E34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DESIGN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1E5137-E9F6-4F1C-B949-52D70C33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Neon Void 统一了 V2 的视觉与操作密度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776A2-6AB1-48DB-9C52-4B59662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347c96b774148"/>
          <a:srcRect xmlns:a="http://schemas.openxmlformats.org/drawingml/2006/main" l="0" t="16417" r="0" b="16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62125"/>
            <a:ext cx="10972800" cy="4286250"/>
          </a:xfrm>
          <a:prstGeom xmlns:a="http://schemas.openxmlformats.org/drawingml/2006/main" prst="roundRect">
            <a:avLst>
              <a:gd name="adj" fmla="val 355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14400-DB67-4076-B284-6A245DBF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76950"/>
            <a:ext cx="571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75DC5-CA1D-43A1-985F-A96BBF1C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15050"/>
            <a:ext cx="556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F6D2"/>
                </a:solidFill>
              </a:defRPr>
            </a:pPr>
            <a:r>
              <a:rPr sz="975" b="1">
                <a:solidFill>
                  <a:srgbClr val="2BF6D2"/>
                </a:solidFill>
              </a:rPr>
              <a:t>深色控制面 · 高对比状态 · Teal 主操作 · 低噪声信息层级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CC1C8-26CA-437A-AF68-80263F00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electron-dock/mx-launcher/demos/ui-design-neon-void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7F99A-29DA-46CC-A8BB-88D4F5D5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227729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AA9CB281-38FF-4696-8954-EDC6A1F6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3KS TOPOLOGY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E82EF8-D341-46C8-BB64-6558047C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H / D / I / O 把用户入口、控制权威与外网数据面拆开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19BAB-63DC-4CE9-ABB6-2ED4EFA9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9F2D0-A31A-4BC2-9FC5-E54AC8DF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4AEF5-B087-44CD-BA38-2DD9F665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2420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8F817-2A64-415F-8E99-7C7FC4D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1BBEC-C24A-40E5-8A7F-793E1B57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1336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26297-390F-4D24-BA5A-10204D35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H · 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72550-2DAE-4DD5-AC72-CB378733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MX-H2I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用户设备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5A299-CE76-4672-87E2-D99E6DFF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19350"/>
            <a:ext cx="20383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BD067-3B0C-47A8-A0DD-31E6A44C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622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D · Domestic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3E37E-76CC-4DFF-87D8-9F4A481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86075"/>
            <a:ext cx="1733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public facade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WG relay /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8555A-06D5-4988-BCBF-77FCC33E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203835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4E1EC-02DC-46F6-B430-2F676362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2887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I · Internal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19275-E1A8-4831-AE90-C58A76E0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1733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identity / config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DNS / release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86971-C9A9-410E-A04B-ADC46A7B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19350"/>
            <a:ext cx="21145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D5B80-FCFF-4AFE-8BCC-9F794DBB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622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O · Oversea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5DFC5-049B-4786-8833-6D075D72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86075"/>
            <a:ext cx="180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Hysteria2 access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health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3114D-B999-49A0-8F9C-C4A1D50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1032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E2E2"/>
                </a:solidFill>
              </a:defRPr>
            </a:pPr>
            <a:r>
              <a:rPr sz="1800" b="1">
                <a:solidFill>
                  <a:srgbClr val="E2E2E2"/>
                </a:solidFill>
              </a:rPr>
              <a:t>权威在 Internal；Domestic 只做 relay/proxy/cache；拿到订阅后，外网流量从 Home 直连 Oversea。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45660-BED8-4BA0-94D3-BE13EE00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95950"/>
            <a:ext cx="499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A1E8C-7DF2-430E-B4A1-8224E5A3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3405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F6D2"/>
                </a:solidFill>
              </a:defRPr>
            </a:pPr>
            <a:r>
              <a:rPr sz="975" b="1">
                <a:solidFill>
                  <a:srgbClr val="2BF6D2"/>
                </a:solidFill>
              </a:rPr>
              <a:t>internal-authority-domestic-relay-oversea-access-v1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A5C65-0111-4DC8-A29A-065EEE7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docs/05-hdo-multi-site-platform-architecture.md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35920-0483-41F9-96EB-11893402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905194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2992703-CDA5-4990-B0CD-2A66EB5B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PLANE SEPARATION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344A68-4F70-4EA5-B156-E1B68749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控制面与数据面分开，故障才能被准确定位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E01CE-3747-4404-91D9-69E88EED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63E0F-5680-4C79-9115-C0B989F4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74FF"/>
                </a:solidFill>
              </a:defRPr>
            </a:pPr>
            <a:r>
              <a:rPr sz="1500" b="1">
                <a:solidFill>
                  <a:srgbClr val="B974FF"/>
                </a:solidFill>
              </a:rPr>
              <a:t>控制面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CA175-65B6-4A9D-A2B3-4702850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038225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1A1B23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808C0-CDAB-4A63-9616-1578343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988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2E2E2"/>
                </a:solidFill>
              </a:defRPr>
            </a:pPr>
            <a:r>
              <a:rPr sz="1725" b="1">
                <a:solidFill>
                  <a:srgbClr val="E2E2E2"/>
                </a:solidFill>
              </a:rPr>
              <a:t>User Center  ·  Config Center  ·  CoreDNS  ·  Release Center  ·  site-slot runner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145FC-7DEF-4A20-80A3-10111880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数据面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9B478-B555-4BCA-BB37-B0FA59F1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038225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1A1B23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B9B92-62D2-43E3-A819-F8138C5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988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Home WireGuard  →  Domestic relay  →  Internal service peer   |   Home → Oversea Hysteria2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6D624-04FC-4C5A-B72B-FA1D148D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988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D06C"/>
                </a:solidFill>
              </a:defRPr>
            </a:pPr>
            <a:r>
              <a:rPr sz="1650" b="1">
                <a:solidFill>
                  <a:srgbClr val="F8D06C"/>
                </a:solidFill>
              </a:rPr>
              <a:t>判断原则：API 能返回 ≠ H2I 已通；必须同时有 tunnel、route proof 与 Internal healthz。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ADA1A-7277-449F-9844-A4C8330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docs/05 · docs/14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2FCDE-B6F9-4BF2-AD30-B6AFBF25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288988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45B1419E-3E41-47F8-8545-F676B38A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BOOTSTRAP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9EFC57-7005-4209-8564-FDF23A0A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Bootstrap 只负责入网，稳定态必须切到 WireGuard relay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ABA87-7378-48C7-9611-0CA22EE6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007BF-629C-4E02-8653-B36E7867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04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79D00-58AE-47EF-8A33-F2E86E47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8EEC"/>
                </a:solidFill>
              </a:defRPr>
            </a:pPr>
            <a:r>
              <a:rPr sz="2100" b="1">
                <a:solidFill>
                  <a:srgbClr val="5E8EEC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E1123-C9B8-4ADB-8F66-2AF3EB12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E2E2"/>
                </a:solidFill>
              </a:defRPr>
            </a:pPr>
            <a:r>
              <a:rPr sz="1425" b="1">
                <a:solidFill>
                  <a:srgbClr val="E2E2E2"/>
                </a:solidFill>
              </a:rPr>
              <a:t>Public facade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04D99-66E0-4115-9328-58A14A70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7BAC4"/>
                </a:solidFill>
              </a:defRPr>
            </a:pPr>
            <a:r>
              <a:rPr sz="1125" b="0">
                <a:solidFill>
                  <a:srgbClr val="B7BAC4"/>
                </a:solidFill>
              </a:rPr>
              <a:t>匿名 enroll / 登录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D8C06-542F-4795-B206-F83BC496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9B27E-EE5D-45ED-BEB3-D84A9312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43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8EEC"/>
                </a:solidFill>
              </a:defRPr>
            </a:pPr>
            <a:r>
              <a:rPr sz="2100" b="1">
                <a:solidFill>
                  <a:srgbClr val="5E8EEC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7737F-575E-4BF3-8C48-5CAFCB65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E2E2"/>
                </a:solidFill>
              </a:defRPr>
            </a:pPr>
            <a:r>
              <a:rPr sz="1425" b="1">
                <a:solidFill>
                  <a:srgbClr val="E2E2E2"/>
                </a:solidFill>
              </a:rPr>
              <a:t>Internal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245A3-0D88-4BDA-BE96-E47FF2BC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95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7BAC4"/>
                </a:solidFill>
              </a:defRPr>
            </a:pPr>
            <a:r>
              <a:rPr sz="1125" b="0">
                <a:solidFill>
                  <a:srgbClr val="B7BAC4"/>
                </a:solidFill>
              </a:rPr>
              <a:t>创建 install/device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88F33-127B-4647-B499-904E87BD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44BBB-06CA-4FCB-A1E2-D558EEE2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E8EEC"/>
                </a:solidFill>
              </a:defRPr>
            </a:pPr>
            <a:r>
              <a:rPr sz="2100" b="1">
                <a:solidFill>
                  <a:srgbClr val="5E8EEC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64648-740E-4C11-A0E7-8ACC872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E2E2"/>
                </a:solidFill>
              </a:defRPr>
            </a:pPr>
            <a:r>
              <a:rPr sz="1425" b="1">
                <a:solidFill>
                  <a:srgbClr val="E2E2E2"/>
                </a:solidFill>
              </a:rPr>
              <a:t>Signed 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E9725-3B7C-4311-B215-FFE4725A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7BAC4"/>
                </a:solidFill>
              </a:defRPr>
            </a:pPr>
            <a:r>
              <a:rPr sz="1125" b="0">
                <a:solidFill>
                  <a:srgbClr val="B7BAC4"/>
                </a:solidFill>
              </a:rPr>
              <a:t>lease + routePlan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B54D0-6A7C-4BCB-ACC1-973EEE4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071A5-DEA9-4DA3-9B0C-504FF14A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BF6D2"/>
                </a:solidFill>
              </a:defRPr>
            </a:pPr>
            <a:r>
              <a:rPr sz="2100" b="1">
                <a:solidFill>
                  <a:srgbClr val="2BF6D2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945D0-6A66-4C8F-AFCC-87FB1BB5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E2E2"/>
                </a:solidFill>
              </a:defRPr>
            </a:pPr>
            <a:r>
              <a:rPr sz="1425" b="1">
                <a:solidFill>
                  <a:srgbClr val="E2E2E2"/>
                </a:solidFill>
              </a:rPr>
              <a:t>WireGuard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CDE17-09E2-4ECF-8C3F-A29ECF40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7BAC4"/>
                </a:solidFill>
              </a:defRPr>
            </a:pPr>
            <a:r>
              <a:rPr sz="1125" b="0">
                <a:solidFill>
                  <a:srgbClr val="B7BAC4"/>
                </a:solidFill>
              </a:rPr>
              <a:t>连接 Domestic relay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74B7C-4F9A-4EFA-843B-888A19AD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BF6D2"/>
                </a:solidFill>
              </a:defRPr>
            </a:pPr>
            <a:r>
              <a:rPr sz="2100" b="1">
                <a:solidFill>
                  <a:srgbClr val="2BF6D2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7BB06-253F-4CA0-A225-D9E5D7C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2E2E2"/>
                </a:solidFill>
              </a:defRPr>
            </a:pPr>
            <a:r>
              <a:rPr sz="1425" b="1">
                <a:solidFill>
                  <a:srgbClr val="E2E2E2"/>
                </a:solidFill>
              </a:rPr>
              <a:t>Steady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D37F0-DE1A-4D0A-9CF7-03A4680D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956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7BAC4"/>
                </a:solidFill>
              </a:defRPr>
            </a:pPr>
            <a:r>
              <a:rPr sz="1125" b="0">
                <a:solidFill>
                  <a:srgbClr val="B7BAC4"/>
                </a:solidFill>
              </a:rPr>
              <a:t>通过 H2I 访问 Internal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2207B-1ACE-45E8-A813-6792F90E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03BA9-6848-4B75-A994-987D52C5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29150"/>
            <a:ext cx="937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没有 relay 时没有完整 HDI；public facade 只保留 enroll、恢复与缓存 fallback。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C6A09-BDA9-4F5C-A341-C49CCC42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docs/05 · Enrollment / Bootstrap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F3AB7-121F-41F4-A1A2-6D182172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383471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7AAFF0F9-E20E-43F4-83BD-E1C5CC70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BOOTSTRAP ACCESS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FB6D6D-9EE5-47BF-AD40-CF4AF10C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Host Resolve 绕过的是公网备案入口，不是内部权限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B53AD-561D-4EAD-B4CA-1F907C96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25107-6BDF-4C1A-9CA1-220276B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095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CDCB3-5F3B-4804-AC2D-5678A206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76475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逻辑地址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A78B2-F58B-47E6-B95A-9F44C20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379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http://h2i.mxinfo-inc.cn:18090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02AE3-99A6-4457-B9DE-4A2E729C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952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7F8AF-6556-4461-BA10-E460F69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2857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3EFBD-755B-498C-8C3E-F5051E7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764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实际拨号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E2570-7B05-455B-A926-09CE4516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03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116.62.51.154:18090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18241-AA40-4124-AFAE-45853357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628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F31CB-4486-48D7-AED2-DEB0365D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33600"/>
            <a:ext cx="17335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2E3EA-B09D-443F-B136-B28A861B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764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Domestic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1A96B-B856-4560-8D63-B98256E9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003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facade → Internal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177A5-51F5-4494-8749-AAD0C62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原始逻辑身份通过请求头保留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E6A47-C920-423C-9819-A18080C8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X-Forwarded-Host / X-MX-Original-Host / X-MX-Bootstrap-Host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1BB50-DE5A-4596-B37D-633B303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D06C"/>
                </a:solidFill>
              </a:defRPr>
            </a:pPr>
            <a:r>
              <a:rPr sz="1350" b="1">
                <a:solidFill>
                  <a:srgbClr val="F8D06C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B76EB-F5BF-44DD-85C0-5FF96771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2E2"/>
                </a:solidFill>
              </a:defRPr>
            </a:pPr>
            <a:r>
              <a:rPr sz="1350" b="0">
                <a:solidFill>
                  <a:srgbClr val="E2E2E2"/>
                </a:solidFill>
              </a:rPr>
              <a:t>env-first：先 Host Resolve，失败再系统路径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EEB6C-7D52-4D47-9C8F-CAF0E9A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435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D06C"/>
                </a:solidFill>
              </a:defRPr>
            </a:pPr>
            <a:r>
              <a:rPr sz="1350" b="1">
                <a:solidFill>
                  <a:srgbClr val="F8D06C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ED460-18D4-452A-9B04-A65701B3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2E2"/>
                </a:solidFill>
              </a:defRPr>
            </a:pPr>
            <a:r>
              <a:rPr sz="1350" b="0">
                <a:solidFill>
                  <a:srgbClr val="E2E2E2"/>
                </a:solidFill>
              </a:rPr>
              <a:t>dns-first：显式 resolver 重试 3 次，再降级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ACE9F-2D48-452A-8A22-8496AF65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D06C"/>
                </a:solidFill>
              </a:defRPr>
            </a:pPr>
            <a:r>
              <a:rPr sz="1350" b="1">
                <a:solidFill>
                  <a:srgbClr val="F8D06C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36EF5-C83E-4A39-8929-A25AC25A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340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2E2"/>
                </a:solidFill>
              </a:defRPr>
            </a:pPr>
            <a:r>
              <a:rPr sz="1350" b="0">
                <a:solidFill>
                  <a:srgbClr val="E2E2E2"/>
                </a:solidFill>
              </a:rPr>
              <a:t>Bootstrap 成功不等于 H2I ready，仍需 WG route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1DC8C-6714-44BB-9EF1-5AD9B5D3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docs/14:487-516 · demos/mx-h2i/README.md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A96EA-B5F0-49E0-BB30-39227223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529211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B69349FF-AC14-4BF9-8EF7-A302BBF1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MESH IP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3B6A51-47FB-4BE6-A6CE-8C90FED5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IP 规划把站点角色与产品所有权编码进地址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51915-CD3A-4B89-AB14-9E6F9BB8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143000" y="1847850"/>
          <a:ext xmlns:a="http://schemas.openxmlformats.org/drawingml/2006/main" cx="99060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67100"/>
                <a:gridCol w="6438900"/>
              </a:tblGrid>
              <a:tr h="51196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地址 / 网段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角色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10.88.0.0/16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Domestic relay fabric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10.88.0.1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Domestic gateway / DNS relay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10.88.88.88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Internal service peer 固定 IP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10.88.100.x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产品 service VIP / gateway alias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10.89.0.1 – 10.89.99.254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MX-H2I 登录用户 lease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10.89.100.1 – 10.89.254.254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MX-H2I 匿名 lease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10.90.0.0/16+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Luopan 等独立 standalone 产品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52EE5-2AA7-4721-B551-EB76B8BF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769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同机多个 standalone 可以共享 fabric，但 lease 段和 AllowedIPs 绝不能重叠。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CA151-12C1-4900-81A0-C4CEABF1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docs/14 · Mesh 和 IP 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A9FD4-E2EE-4FB9-973D-419A842D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884761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A87C98DA-2BDB-4E2D-BB9A-21388970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WIREGUARD PROOF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E87494-C782-4F69-9D81-1EA3CC43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WG 建连后，三类证据共同定义 H2I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4E53D-6919-418C-B4DB-E173E31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C26F7-0C9B-40CE-BDC9-468E1897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723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1DC38-A5D7-44A4-AF43-84622537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723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41C08-5013-4463-8A77-9A81D594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723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1045B-B124-4E5B-9C29-509C29E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622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401E8-70FC-4A11-A2D6-6180CF1E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Tunnel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04731-8B9E-46B5-82AC-28E35EC5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WG interface up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handshake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44C3F-7D56-43F3-9F36-7B5BE25E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05050"/>
            <a:ext cx="23622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63353-9F12-4836-9B8D-EE42DDD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479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Route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78682-A865-45DD-A8BD-36DC0565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71775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10.88.88.88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命中 MX-H2I 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AD87C-4B41-407E-B2D7-6955BCF8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05050"/>
            <a:ext cx="23622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7CF89-2AD9-4250-966D-8524142E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479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DNS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E5BB9-9DAA-49F4-BB65-F1C7C790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71775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10.88.0.1:53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返回 Internal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E637B-9929-42FB-B846-6140D661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05050"/>
            <a:ext cx="15430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C266B-D5D6-4547-85FE-1455B78E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4792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Health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2A859-9C3C-4278-9DF7-84147CFC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71775"/>
            <a:ext cx="123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Internal healthz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through overlay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C754D-2912-49A4-B4F1-00C3C4AC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E6067"/>
                </a:solidFill>
              </a:defRPr>
            </a:pPr>
            <a:r>
              <a:rPr sz="1725" b="1">
                <a:solidFill>
                  <a:srgbClr val="EE6067"/>
                </a:solidFill>
              </a:rPr>
              <a:t>必须排除 198.18.0.0/15 fake-ip、Clash TUN、其它 utun 和 lo0 的假阳性。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91E8A-03A6-4EC5-B596-31A234E9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7BAC4"/>
                </a:solidFill>
              </a:defRPr>
            </a:pPr>
            <a:r>
              <a:rPr sz="1575" b="0">
                <a:solidFill>
                  <a:srgbClr val="B7BAC4"/>
                </a:solidFill>
              </a:rPr>
              <a:t>Internal service peer 由 Internal 主动出站加入 Domestic relay；私钥不下发到 Domestic。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8E999-E9E6-448D-B2A6-D90A6240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docs/14 · route proof /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83462-BC16-4CB2-B7BB-C4EE36F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210701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101217C5-466E-4C41-B958-86BF4C30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LOCAL NETWORK EDGE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5E9B5C-77D6-4B65-87AD-7B3E779C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PAC、Split DNS 与 WG 路由共同保证和 Clash 共存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35826-60D6-4B6A-A56C-1B21ED78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7756A-9682-4060-9E2A-F89C270D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177E8-17EC-4842-AB7F-284E8095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Browser /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52AD4-F5FF-4E29-95C0-232D0F3A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Internal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7CD16-EE34-4935-A7F0-27C7533E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C6191-42ED-452C-88C9-E1D2B9E5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95500"/>
            <a:ext cx="28575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4EA0C-F5FF-4BE2-A41E-81D471C9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127.0.0.1:2053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A7C5A-D255-4101-A2BB-C23B5BB7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62225"/>
            <a:ext cx="255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PAC + HTTP/CONNECT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local DNS 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6F2F6-6CCC-4DAB-B990-90C7C91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F20EC-64AB-4DDE-941D-4CDE3C6A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4290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A9880-F65F-407C-9835-85404A1E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WG AllowedIPs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20170-6135-45AD-8CE3-543A244D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336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10.88.88.88 / 10.89/16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96301-1FBD-42A7-98F5-105BE974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BAC4"/>
                </a:solidFill>
              </a:defRPr>
            </a:pPr>
            <a:r>
              <a:rPr sz="1350" b="1">
                <a:solidFill>
                  <a:srgbClr val="B7BAC4"/>
                </a:solidFill>
              </a:rPr>
              <a:t>未命中 Internal 的流量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AFCD3-907A-49F2-8AEE-0A58ED4D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1047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F488-0F99-4858-9E93-F8111EEE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2E2E2"/>
                </a:solidFill>
              </a:defRPr>
            </a:pPr>
            <a:r>
              <a:rPr sz="1725" b="1">
                <a:solidFill>
                  <a:srgbClr val="E2E2E2"/>
                </a:solidFill>
              </a:rPr>
              <a:t>恢复到原系统代理 / Clash / 默认网络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757EF-05AD-4861-B5F6-1E3170B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91CD0-DE46-4427-9F5E-87DC07E9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925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一个 active network writer：broker 合并 PAC、DNS、route，并在最后一个 owner 退出时恢复系统状态。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A804D-E736-4BF2-9BF9-88866267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docs/14 · system-domain-proxy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A9063-B9A1-4C27-A1E2-7A708D83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629116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234060B6-CD55-439A-954C-E48481CD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IDENTITY AND EXPIRY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91A0C2-DC44-4280-BFD9-B3B88833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身份、快照与租约采用不同有效期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66B95-AD03-48C9-A7D9-0F1D7E05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19150" y="1924050"/>
          <a:ext xmlns:a="http://schemas.openxmlformats.org/drawingml/2006/main" cx="105537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78163"/>
                <a:gridCol w="2198688"/>
                <a:gridCol w="5276850"/>
              </a:tblGrid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对象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默认有效期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用途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User Center token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1 小时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API 授权；可撤销、按 audience/scope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Enrollment snapshot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6 小时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install/device 初始配置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Policy / DNS snapshot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30 分钟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身份、App、DNS、Release 聚合策略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Launcher network lease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180 天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install/device 独立网络地址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A2307-68AC-4B37-91F6-0FFE4CD9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多设备结论（基于当前模型）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D93FA-33FD-4629-9503-3E1971D6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2E2E2"/>
                </a:solidFill>
              </a:defRPr>
            </a:pPr>
            <a:r>
              <a:rPr sz="1575" b="1">
                <a:solidFill>
                  <a:srgbClr val="E2E2E2"/>
                </a:solidFill>
              </a:rPr>
              <a:t>同一账号可绑定多个 install/device，每个设备有独立 lease；当前未发现单设备互斥或并发上限。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FE42D-7B32-44BE-B3BE-ED21E576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14950"/>
            <a:ext cx="407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8D06C"/>
                </a:solidFill>
              </a:defRPr>
            </a:pPr>
            <a:r>
              <a:rPr sz="1125" b="1">
                <a:solidFill>
                  <a:srgbClr val="F8D06C"/>
                </a:solidFill>
              </a:rPr>
              <a:t>需完善：设备配额、踢下线、租约回收、风险设备策略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4373C-8DC1-48FC-BE42-B080CFED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server/src/store/domain.ts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E09BF-B889-40BD-B10C-5C147A7C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598831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E3F4DE59-28AA-4065-94EC-0EA1D5DC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EMPLOYEE LOGIN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598A9B-303C-45CF-B1B3-741DF12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员工登录只是入口，真正结果是身份与网络上下文切换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B3E6D-07D4-4199-A0CF-4DCF26DE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282fd64ed48d7"/>
          <a:srcRect xmlns:a="http://schemas.openxmlformats.org/drawingml/2006/main" l="2699" t="0" r="2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7048500" cy="41910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42012-264E-411B-B99F-B6BA5D97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14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登录完成后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F99E5-46FA-4267-BA04-86CEF123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81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D2581-1458-4F73-BF15-E51B612E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principal 从 guest 变为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9D552-4506-475B-B127-84D3624B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DDBA1-DC23-4AB7-B8AD-D9B2BAF2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租约进入登录用户段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FCA92-5248-4EDD-A4DC-841625D9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337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39FFD-B0D3-4B96-B16F-214C727F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AppCenter 权限按用户解析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887F1-0606-4FF3-BBCD-C1C25E2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00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9D3A7-6DBA-472A-98EB-C9E366B5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可 ensure Oversea 默认订阅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437CE-CA6B-4C4B-9599-7468A862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86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7574F-6B77-47D4-B540-464C293A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Release 灰度可按 user/install 命中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8E027-5874-4CE8-82C6-481C94A0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demos/mx-h2i · user-center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D195D-CD0F-4B92-9661-1FFD2E77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49558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759D82A1-7210-4A0D-A286-1FD479AA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GUEST TO CONNECTED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83682B-B295-478F-BCF2-B68011A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连接态把技术状态翻译成用户可理解的反馈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9909E-92F8-43DE-8853-41F10A84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1ad5a559647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62150"/>
            <a:ext cx="5181600" cy="2914650"/>
          </a:xfrm>
          <a:prstGeom xmlns:a="http://schemas.openxmlformats.org/drawingml/2006/main" prst="roundRect">
            <a:avLst>
              <a:gd name="adj" fmla="val 4575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d77464ffa4f00"/>
          <a:srcRect xmlns:a="http://schemas.openxmlformats.org/drawingml/2006/main" l="0" t="8203" r="0" b="8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962150"/>
            <a:ext cx="5181600" cy="2914650"/>
          </a:xfrm>
          <a:prstGeom xmlns:a="http://schemas.openxmlformats.org/drawingml/2006/main" prst="roundRect">
            <a:avLst>
              <a:gd name="adj" fmla="val 45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88882-B043-4099-9DA4-C8887E58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BAC4"/>
                </a:solidFill>
              </a:defRPr>
            </a:pPr>
            <a:r>
              <a:rPr sz="1350" b="1">
                <a:solidFill>
                  <a:srgbClr val="B7BAC4"/>
                </a:solidFill>
              </a:rPr>
              <a:t>连接前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48D56-6903-4DFD-9BF5-F5AA7B5C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访客模式 · 未分配 IP · Internal idle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46FDF-DBD3-415B-BEC8-B0396743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连接后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90511-FE84-4B5C-AF32-EA9E8D2D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10.89.120.24 · mx-h2i · Internal 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9A438-690D-45EF-8762-5B43B135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demos/mx-h2i renderer mock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C5688-56C0-49E3-B24F-4CCDDF23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8858277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636AC59-AE78-41D0-AEF3-4CE987A6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APPCENTER ENTRY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69A15D-AE82-4019-8224-FCE1F883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连接成功后，AppCenter 才获得可用网络底座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CAB2C-2460-458C-A16B-3F385FF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780ecc9224043"/>
          <a:srcRect xmlns:a="http://schemas.openxmlformats.org/drawingml/2006/main" l="18151" t="0" r="181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43815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34de6d6e14fda"/>
          <a:srcRect xmlns:a="http://schemas.openxmlformats.org/drawingml/2006/main" l="4581" t="0" r="45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90700"/>
            <a:ext cx="62484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E01FA-7773-4E5B-AC13-BAA6D957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81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F6D2"/>
                </a:solidFill>
              </a:defRPr>
            </a:pPr>
            <a:r>
              <a:rPr sz="1200" b="1">
                <a:solidFill>
                  <a:srgbClr val="2BF6D2"/>
                </a:solidFill>
              </a:rPr>
              <a:t>Standalone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C9C21-2128-453B-B016-CBD6947D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981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74FF"/>
                </a:solidFill>
              </a:defRPr>
            </a:pPr>
            <a:r>
              <a:rPr sz="1200" b="1">
                <a:solidFill>
                  <a:srgbClr val="B974FF"/>
                </a:solidFill>
              </a:rPr>
              <a:t>应用目录与权限入口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ECDC8-2126-4462-A4BE-C555D6EF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demos/mx-h2i · AppCenter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DAB29-6018-4D45-94E1-D4ACAF27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1606669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4F79BB49-0D99-49A8-87FD-388A904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H2O INSTALL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52613E-59EE-4DD3-A184-F5AA0F70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H2O 是第一个把共享底座讲清楚的 AppCenter 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E9034-3AC2-4EEC-B895-60676D75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92c9f37cf4f99"/>
          <a:srcRect xmlns:a="http://schemas.openxmlformats.org/drawingml/2006/main" l="225" t="0" r="2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7239000" cy="422910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5D56B-16B8-4A57-9F8C-89309D8B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安装后写入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9AE8F-6F4E-4956-9AA0-4FA3F3C6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81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82F11-2310-4ACD-A7C2-C590CE5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package /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9D589-70BA-46B5-B738-68E4EDA7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E55C0-31F7-4FB5-A70C-1173EEC0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local install 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2F25D-E4A5-4444-BC93-C4120885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956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9EA55-36A7-4578-8B6B-D4CB2D37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permissions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714C0-3A44-4E01-B1DA-FCB9812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528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08BA8-3739-4808-807F-E4F9643A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entrypoints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317C7-DE60-46F7-B60C-9780965A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70634-034C-4316-9EB9-0D9A046C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00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networkScope: broker-session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8DDDA-894A-4107-A818-7AF624C2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D06C"/>
                </a:solidFill>
              </a:defRPr>
            </a:pPr>
            <a:r>
              <a:rPr sz="1650" b="1">
                <a:solidFill>
                  <a:srgbClr val="F8D06C"/>
                </a:solidFill>
              </a:rPr>
              <a:t>H2O 不创建独立 WireGuard peer。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E6046-6CAE-40D2-94CF-E6965FF5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demos/mx-h2i · demos/mx-app-h2o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06FC3-8EB0-4C7E-B743-ED572D07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570006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F0745B34-37EA-481E-AE89-88C97728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RUNTIME CONTRACT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C3B220-79FF-457E-84E2-E588F0D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broker-session 让多个应用共享一次网络所有权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6AB0A-0BD6-4B1A-8480-E9772A44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FADA7-A3C7-4874-94CA-B94D5990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667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9AC3F-0968-4149-B3B7-648BE68E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MX-H2I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7D15E-4628-4BBB-8784-B805C176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standalone owner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WG + PAC + DNS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83A62-163A-463C-BFF0-3BD2E8E1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857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B9164-FD76-4C9D-A428-FB96435C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5275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2AF82-34B3-449B-8287-A6BDF70C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383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Launcher broker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9C16C-7FEC-4285-8F70-45C5E9D3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62225"/>
            <a:ext cx="26479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socket · capability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identity · permission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3862F-B43E-4759-B3BB-D844109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857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7D7E8-E5DB-468D-8892-EDFD069B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857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80831-7468-46BD-9994-D18EC273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247650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41D5A-CADB-49E7-B4DF-44EEDD4A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812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AppCenter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CC465-EE63-443B-BCE0-ABA8A444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05075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catalog / install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EE03F-B374-4E11-9B83-FCB692D9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247650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8B52F-6E07-4D2A-98DF-203C1E84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147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H2O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29AF5-D684-46A5-9D33-AB2672AA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38575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proxy / rules / sub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4577F-7EE6-4DDA-9CEC-50B6834C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C2396-55B8-4552-882B-53AB53ED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Embed App 继承 channel 的 local IP、身份与权限；系统网络只有一个 active writer。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9DD69-F16D-49E3-B312-9C877D3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docs/10 · demos/mx-h2i README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03BC2-D72E-4B21-A669-54297BA3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7551618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3C443B6F-0623-4220-863E-7B9C16C5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H2O HOME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2F60C1-0575-4D5A-8887-4B319D28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H2O 把 Oversea 接入做成普通用户能理解的应用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982BC-330F-49F6-890B-B6DC721F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fd7379ebc4a2c"/>
          <a:srcRect xmlns:a="http://schemas.openxmlformats.org/drawingml/2006/main" l="0" t="16566" r="0" b="16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10972800" cy="4267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A301B-ED14-4E2D-A90C-6509B73A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115050"/>
            <a:ext cx="548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2C5AA-CA01-4BCE-BF13-CF3E37B8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531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F6D2"/>
                </a:solidFill>
              </a:defRPr>
            </a:pPr>
            <a:r>
              <a:rPr sz="975" b="1">
                <a:solidFill>
                  <a:srgbClr val="2BF6D2"/>
                </a:solidFill>
              </a:rPr>
              <a:t>运行状态 · 模式 · 默认订阅 · 流量 · 本地端口 · 常用规则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93BFA-84C1-4B62-9FA4-498A7802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demos/mx-h2i · H2O 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0E6BB-93FD-48B3-9226-726A19C2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0679903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7FB1CB31-1CAC-4EE9-A8EE-609256E6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H2O PROXY + SUBSCRIPTION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4B8B04-0E09-462D-B0BA-6D2D1AA1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代理与订阅分开：执行参数不再混进身份分配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C5CE4-4A2F-4358-A14C-9C4411E2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2e69f4da7473c"/>
          <a:srcRect xmlns:a="http://schemas.openxmlformats.org/drawingml/2006/main" l="0" t="1641" r="0" b="1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24050"/>
            <a:ext cx="5181600" cy="2914650"/>
          </a:xfrm>
          <a:prstGeom xmlns:a="http://schemas.openxmlformats.org/drawingml/2006/main" prst="roundRect">
            <a:avLst>
              <a:gd name="adj" fmla="val 4575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f8be21ca1478e"/>
          <a:srcRect xmlns:a="http://schemas.openxmlformats.org/drawingml/2006/main" l="0" t="1641" r="0" b="1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924050"/>
            <a:ext cx="5181600" cy="2914650"/>
          </a:xfrm>
          <a:prstGeom xmlns:a="http://schemas.openxmlformats.org/drawingml/2006/main" prst="roundRect">
            <a:avLst>
              <a:gd name="adj" fmla="val 45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DF29C-ED01-42EC-BFDD-13E5199F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执行面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6F67F-084D-4F63-82CE-D3C325C7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BAC4"/>
                </a:solidFill>
              </a:defRPr>
            </a:pPr>
            <a:r>
              <a:rPr sz="1275" b="0">
                <a:solidFill>
                  <a:srgbClr val="B7BAC4"/>
                </a:solidFill>
              </a:rPr>
              <a:t>App / Global / TUN · mixed/DNS/controller/admin 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BD2C3-EF04-4922-A96F-EE8B08B8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24450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74FF"/>
                </a:solidFill>
              </a:defRPr>
            </a:pPr>
            <a:r>
              <a:rPr sz="1350" b="1">
                <a:solidFill>
                  <a:srgbClr val="B974FF"/>
                </a:solidFill>
              </a:rPr>
              <a:t>资格与内容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78559-5F5A-4A4B-8B98-570CAE9E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7BAC4"/>
                </a:solidFill>
              </a:defRPr>
            </a:pPr>
            <a:r>
              <a:rPr sz="1275" b="0">
                <a:solidFill>
                  <a:srgbClr val="B7BAC4"/>
                </a:solidFill>
              </a:rPr>
              <a:t>Managed Oversea Profile · custom subscription · auth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679CD-9E28-4793-85A2-2758A441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H2O manager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432E2-4E26-45AD-BCD4-C7BE7EEB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9929195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62D1A2CC-97EE-499B-A819-19FA70B5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H2O RULES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81E63D-0761-4F88-8E16-4E67B139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规则模型保留用户熟悉度，同时服从平台权限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D1593-2DA0-43FE-9E7A-FD6B084A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37c3313524b07"/>
          <a:srcRect xmlns:a="http://schemas.openxmlformats.org/drawingml/2006/main" l="0" t="1856" r="0" b="18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7620000" cy="4267200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9FCD1-7AFA-46C7-9499-28A94692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规则层次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07BAA-1B9C-4DF6-86F2-BFC0755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81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419CA-3CB1-4EC2-92DF-6DA747DC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cn-direct 优先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96BA1-080D-4317-AA93-73192A2D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A5722-66F1-4E1F-9EF1-DDAE05D9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3847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App 模式白名单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5031C-17E2-4551-9CA7-0A3B3CF8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147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D8E8F-872B-4CFC-8054-58E652C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Global/TUN 黑名单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9EE2A-C7D3-437F-8E3F-7215391D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814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DA631-633C-4B78-944B-0DD2ABD8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71925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平台内置规则包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67F84-07B7-4A6D-BB4E-B2C31AE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48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0518C-FB3B-450B-8E2A-A424C96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865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用户自定义域名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E47CF-FF29-4A4E-9239-F3DE76B6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19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BAC4"/>
                </a:solidFill>
              </a:defRPr>
            </a:pPr>
            <a:r>
              <a:rPr sz="1500" b="1">
                <a:solidFill>
                  <a:srgbClr val="B7BAC4"/>
                </a:solidFill>
              </a:rPr>
              <a:t>最终由 broker 合并并应用。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BBB8E-3D38-46A3-B32F-CA4B2BA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demos/mx-h2i/src/renderer.js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F3757-FB4A-4B06-A0CD-3D162306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141499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EF236E3C-37B9-44C7-B454-439F7FBA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H2O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753FA7-0FFA-42D7-80DE-BD309EC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测试与日志让 Demo 变成可诊断证据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E321F-20EC-4A94-9526-2CCC3262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172e838854b9e"/>
          <a:srcRect xmlns:a="http://schemas.openxmlformats.org/drawingml/2006/main" l="0" t="1641" r="0" b="1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24050"/>
            <a:ext cx="5181600" cy="2914650"/>
          </a:xfrm>
          <a:prstGeom xmlns:a="http://schemas.openxmlformats.org/drawingml/2006/main" prst="roundRect">
            <a:avLst>
              <a:gd name="adj" fmla="val 4575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50df0ad794198"/>
          <a:srcRect xmlns:a="http://schemas.openxmlformats.org/drawingml/2006/main" l="0" t="1641" r="0" b="1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924050"/>
            <a:ext cx="5181600" cy="2914650"/>
          </a:xfrm>
          <a:prstGeom xmlns:a="http://schemas.openxmlformats.org/drawingml/2006/main" prst="roundRect">
            <a:avLst>
              <a:gd name="adj" fmla="val 45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9BFAD-33BE-4BC6-BFCC-0D84DE0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测试预设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F7B5F-C9C6-42C9-9C7E-BC8F7DC6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BAC4"/>
                </a:solidFill>
              </a:defRPr>
            </a:pPr>
            <a:r>
              <a:rPr sz="1350" b="0">
                <a:solidFill>
                  <a:srgbClr val="B7BAC4"/>
                </a:solidFill>
              </a:rPr>
              <a:t>Google / YouTube / X / Telegram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9AB4E-1172-4E6E-AACC-2CE8B6F7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24450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74FF"/>
                </a:solidFill>
              </a:defRPr>
            </a:pPr>
            <a:r>
              <a:rPr sz="1350" b="1">
                <a:solidFill>
                  <a:srgbClr val="B974FF"/>
                </a:solidFill>
              </a:rPr>
              <a:t>可审计事件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6E438-6954-4D39-A79F-731012CD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518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BAC4"/>
                </a:solidFill>
              </a:defRPr>
            </a:pPr>
            <a:r>
              <a:rPr sz="1350" b="0">
                <a:solidFill>
                  <a:srgbClr val="B7BAC4"/>
                </a:solidFill>
              </a:rPr>
              <a:t>install · runtime · proxy policy · subscription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60496-CE0E-44EC-B981-03F7F89A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H2O test/log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8F5EE-E6F5-4E5B-92B5-B14450F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13526490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9827ABC6-96C4-4930-8AE1-793A9DE2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MANAGED SUBSCRIPTION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267C06-9104-4270-9285-07120B27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ensure-subscription 一次补齐用户的 Oversea 运行资格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DC236-D029-45C7-8F6D-51E06BE1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3B986-253D-4E2A-A4C4-F0C8C918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95862-00BA-498A-AA12-2388510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A910B-3BAE-4245-859E-3B35AE72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18566-73CF-4E43-AA4D-703071F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3241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4B048-8A7A-4CBE-B56E-9BE56D15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User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8AF4E-A2D7-4F14-BF9F-CEDA9C64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scope: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oversea.subscription.ensure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DC15E-443D-4AD6-806C-0CD508E3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66950"/>
            <a:ext cx="23622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B7DBA-262D-4071-AF7E-0F1D60AD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98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User Center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2AD2E-56ED-46F1-BB33-D167913F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33675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validate subject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userId must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3E960-3478-4186-99CE-9740CF9A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236220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A81F1-454A-4FD3-8253-8EC7B501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7647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Ensure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F9C62-B3B5-4346-AA99-851A669E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0325"/>
            <a:ext cx="2057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entitlement + site account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subscription 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EB811-3279-4CE5-BE26-8E636CA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66950"/>
            <a:ext cx="16764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7DC78-5395-4777-B761-44A589B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98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Inline YAML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949D6-9C9F-42FA-9A8D-047FA39F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33675"/>
            <a:ext cx="1371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短期 Bearer 换取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H2O managed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6CA09-D0EB-45F4-A123-4507D5C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跨用户管理必须同时具备 site-slot.manage 与 site-slot.execute；普通用户只能操作自己的 userId。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86872-AF13-4B99-A809-E70AE914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POST /internal/v1/user-center/users/:userId/oversea/ensure-subscription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33C70-CBAE-4A58-96FE-4B0901DC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515393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A45E6516-4178-4B3A-B442-F8C59F6A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SITE-SLOT DEPLOYMENT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14EC-D5E1-43E1-9642-87A2ABF3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Internal 通过受控 runner 推送 Domestic 与 Oversea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03C53-B707-4A61-87E3-592249B5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CFD43-B41D-451D-872E-4AA471E0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381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F97C8-8D9B-4788-B701-583DFFC5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Internal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7DAFB-EC6A-4A19-8C17-884B2BBE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plan + approval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SSH profile authority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A6D7C-1EFE-4517-8C39-02836D5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AFC56-8DAD-4B34-A7C6-5C0A846F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28575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7688F-7E4C-4738-BED9-9F92A9F5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Runner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FB6C6-8226-4BC1-8C3B-76DA186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62225"/>
            <a:ext cx="25527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simulate / remote-ssh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AWX shadow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00563-6F3E-45CA-A64C-2144FECC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38400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2B866-6764-45CA-BF27-A58928ED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E516C-BD10-4F9E-919E-1A57F0F7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238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43993-5B87-4605-B611-4587D67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240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Domestic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EED7D-05E2-4912-B149-C9759D8C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47925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WG relay + facade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DNS/cache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3A204-EB01-4EA0-912E-69C510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238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25C1C-2422-4588-B2DA-2B87A31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337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Oversea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E466E-E9F6-4813-BB03-035634A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Hysteria2 access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subscription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D4648-2785-4D56-94C0-898DF9E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A9B09-DDF3-4FDE-B737-57E9751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948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默认只生成 plan、job 与 report；真实 SSH/AWX 执行必须通过显式 gate、change window 与 evidence。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1E675-743B-4A81-A9BA-107F41F7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docs/05 · site-slot runner sessions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311D5-27E6-4BA3-B7D3-F62419D2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5265102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BFD2D5A5-A0B5-405D-B871-FA6B39AA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KUBERNETES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166323-D921-424E-B055-B4A5990A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K8s 不是终点，而是把控制面变成可声明、可审计的运行环境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1990B-7493-45AC-8A1C-A5B44525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8CF43-FEC9-4C37-B10B-6C733E2C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8EEC"/>
                </a:solidFill>
              </a:defRPr>
            </a:pPr>
            <a:r>
              <a:rPr sz="1425" b="1">
                <a:solidFill>
                  <a:srgbClr val="5E8EEC"/>
                </a:solidFill>
              </a:rPr>
              <a:t>Docker / systemd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453EA-3904-4D01-BF24-8F427D8F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E2E2"/>
                </a:solidFill>
              </a:defRPr>
            </a:pPr>
            <a:r>
              <a:rPr sz="1350" b="1">
                <a:solidFill>
                  <a:srgbClr val="E2E2E2"/>
                </a:solidFill>
              </a:rPr>
              <a:t>边缘数据面：WireGuard / Caddy / CoreDNS</a:t>
            </a:r>
          </a:p>
          <a:p xmlns:a="http://schemas.openxmlformats.org/drawingml/2006/main">
            <a:pPr algn="l">
              <a:defRPr sz="1350" b="1">
                <a:solidFill>
                  <a:srgbClr val="E2E2E2"/>
                </a:solidFill>
              </a:defRPr>
            </a:pPr>
            <a:r>
              <a:rPr sz="1350" b="1">
                <a:solidFill>
                  <a:srgbClr val="E2E2E2"/>
                </a:solidFill>
              </a:rPr>
              <a:t>host runner / systemd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5BD75-1E61-4407-85C5-BDA4FB0D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952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6A67E-BC3C-4526-A079-3560BF92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F6D2"/>
                </a:solidFill>
              </a:defRPr>
            </a:pPr>
            <a:r>
              <a:rPr sz="1425" b="1">
                <a:solidFill>
                  <a:srgbClr val="2BF6D2"/>
                </a:solidFill>
              </a:rPr>
              <a:t>Kubernetes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9479-9315-44F1-90B3-95C587A2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Internal API、Postgres、Config/DNS/Release Center、RBAC、滚动升级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E1324-FBAD-4C9E-A37F-4D123F3D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85887-FC5A-48CB-89CC-06DCD690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50F52-9920-48D9-ACC7-95D2F88A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site-slot manifest 将 Domestic/Oversea 部署声明化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40947-B450-4A68-B5A5-EB2C2F38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B5D18-7E68-441D-842C-C02382B2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ServiceAccount RBAC 约束 ConfigMap 等目标对象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FE5AB-2C54-4ACF-BD04-377AB28C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ED80D-5D66-486A-8178-0B53EC2B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host-runner 负责需要宿主机权限的 WG/路由动作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9F30A-3379-4B95-89EE-AB0BC535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483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F6D2"/>
                </a:solidFill>
              </a:defRPr>
            </a:pPr>
            <a:r>
              <a:rPr sz="1500" b="1">
                <a:solidFill>
                  <a:srgbClr val="2BF6D2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B8066-B703-49B3-9AAC-14253D95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2E2"/>
                </a:solidFill>
              </a:defRPr>
            </a:pPr>
            <a:r>
              <a:rPr sz="1500" b="0">
                <a:solidFill>
                  <a:srgbClr val="E2E2E2"/>
                </a:solidFill>
              </a:rPr>
              <a:t>Local Docker Desktop 的 LinuxKit node 不等于正式宿主机，验证边界必须区分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2ACC9-D4AB-4341-A97C-FDCD9A8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docs/11 · docs/14 · setup/*.md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84644-3526-4F04-95AF-FAD07447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832252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575BA1E2-B3AF-42A5-87E1-B0F99C34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STANDALONE REUSE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F594C3-67C9-4C5E-82D5-CC0B222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Luopan 证明 Launcher Foundation 可以服务第二个独立产品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349A7-9336-428F-8BB2-2BE599F3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47a19e9384f00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47850"/>
            <a:ext cx="5219700" cy="3448050"/>
          </a:xfrm>
          <a:prstGeom xmlns:a="http://schemas.openxmlformats.org/drawingml/2006/main" prst="roundRect">
            <a:avLst>
              <a:gd name="adj" fmla="val 386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26d3662104125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847850"/>
            <a:ext cx="5219700" cy="3448050"/>
          </a:xfrm>
          <a:prstGeom xmlns:a="http://schemas.openxmlformats.org/drawingml/2006/main" prst="roundRect">
            <a:avLst>
              <a:gd name="adj" fmla="val 38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966C0-6A5D-483B-8763-F2FBF3AE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F6D2"/>
                </a:solidFill>
              </a:defRPr>
            </a:pPr>
            <a:r>
              <a:rPr sz="1200" b="1">
                <a:solidFill>
                  <a:srgbClr val="2BF6D2"/>
                </a:solidFill>
              </a:rPr>
              <a:t>Embed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461BB-8D61-4548-891F-F96ED649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只需要 AppCenter 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5BCA8-90E4-483C-83D4-C6817906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74FF"/>
                </a:solidFill>
              </a:defRPr>
            </a:pPr>
            <a:r>
              <a:rPr sz="1200" b="1">
                <a:solidFill>
                  <a:srgbClr val="B974FF"/>
                </a:solidFill>
              </a:rPr>
              <a:t>Standalone when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20EDF-CA7E-4A7B-87B3-2DF28F89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86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2E2"/>
                </a:solidFill>
              </a:defRPr>
            </a:pPr>
            <a:r>
              <a:rPr sz="1425" b="0">
                <a:solidFill>
                  <a:srgbClr val="E2E2E2"/>
                </a:solidFill>
              </a:rPr>
              <a:t>需要独立登录、守护、更新或隔离策略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B87D6-6E77-4DA6-961E-3E391537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demos/luopan/design-qa · docs/20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13566-F25A-4FA9-B1FD-0F87B66D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32878958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D8CFA15F-C91F-4327-907A-78669E21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RELEASE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A0DE38-B918-4DD5-9C98-E346D650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Release Center 把更新从 npm 下载升级为受控决策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042D1-5E4B-4628-A053-6060AA96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E5685-4C50-4F3D-9BAB-A0777C65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33700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E7BB5-0908-4AFF-98E9-B3FD6AE5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33700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2E773-09AF-4AA9-B008-D637FB1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33700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5660"/>
          </a:solidFill>
          <a:ln xmlns:a="http://schemas.openxmlformats.org/drawingml/2006/main" w="0">
            <a:solidFill>
              <a:srgbClr val="34566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C29AF-4B49-4FEB-A01E-FFC27BD5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2479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5E8E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2250E-C0C9-4A0C-83F3-EFCAAA4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CI /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22E10-2FE4-40AE-8A7F-1145349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1943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sync package + 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75B22-CC86-4968-AB87-271FA94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33600"/>
            <a:ext cx="23050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B97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F47E1-DF56-45A0-8478-A4309E50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764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Internal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3FEF4-F269-4BE8-9213-9CF2948B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0325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plan · rollout · gate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signed artifact refs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0A32A-00F3-4CC2-AE11-DBB30E3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230505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2BF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9BE64-EDAC-4089-927D-B126ACDA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479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Client updater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A4AFA-687C-48E9-B536-B631E1C7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71775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download · verify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stage · activate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20D61-6E6D-4482-A16E-2B3D6137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05050"/>
            <a:ext cx="19431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21232D"/>
          </a:solidFill>
          <a:ln xmlns:a="http://schemas.openxmlformats.org/drawingml/2006/main" w="9525">
            <a:solidFill>
              <a:srgbClr val="F8D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2722E-F98A-4EB2-BEB6-B78AAED5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47925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2E2E2"/>
                </a:solidFill>
              </a:defRPr>
            </a:pPr>
            <a:r>
              <a:rPr sz="1500" b="1">
                <a:solidFill>
                  <a:srgbClr val="E2E2E2"/>
                </a:solidFill>
              </a:rPr>
              <a:t>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A0BC1-8A40-4E66-BC22-F136894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71775"/>
            <a:ext cx="1638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progress · rollback</a:t>
            </a:r>
          </a:p>
          <a:p xmlns:a="http://schemas.openxmlformats.org/drawingml/2006/main">
            <a:pPr algn="ctr">
              <a:defRPr sz="1050" b="0">
                <a:solidFill>
                  <a:srgbClr val="B7BAC4"/>
                </a:solidFill>
              </a:defRPr>
            </a:pPr>
            <a:r>
              <a:rPr sz="1050" b="0">
                <a:solidFill>
                  <a:srgbClr val="B7BAC4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A747E-F3CE-44C7-A57B-4D240E52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热更新：UI / config / feature flags   ·   安装包：Electron / main / native helper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55A41-77D9-4528-BF3A-36D49F5D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998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E6067"/>
                </a:solidFill>
              </a:defRPr>
            </a:pPr>
            <a:r>
              <a:rPr sz="1500" b="1">
                <a:solidFill>
                  <a:srgbClr val="EE6067"/>
                </a:solidFill>
              </a:rPr>
              <a:t>更新检查是只读操作，不得重启 WG、改 PAC/DNS 或刷新 lease。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62187-6914-43D3-9D74-421B7B83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docs/17-mx-h2i-release-center-update-system.md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A6788-A768-4E20-9007-AF25AEA7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87870594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42E2ACBB-A4E1-4F6A-B97A-75D8DBB2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RELEASE UI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D17185-BAA2-414F-8D0A-FCD2236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客户端已具备检查、下载、校验与可回滚状态面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B4A51-7C5E-4091-AB82-ED30E9CE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301c4a3ba4676"/>
          <a:srcRect xmlns:a="http://schemas.openxmlformats.org/drawingml/2006/main" l="0" t="1641" r="0" b="1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62150"/>
            <a:ext cx="5181600" cy="2914650"/>
          </a:xfrm>
          <a:prstGeom xmlns:a="http://schemas.openxmlformats.org/drawingml/2006/main" prst="roundRect">
            <a:avLst>
              <a:gd name="adj" fmla="val 4575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89c1630bd429f"/>
          <a:srcRect xmlns:a="http://schemas.openxmlformats.org/drawingml/2006/main" l="0" t="1641" r="0" b="1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962150"/>
            <a:ext cx="5181600" cy="2914650"/>
          </a:xfrm>
          <a:prstGeom xmlns:a="http://schemas.openxmlformats.org/drawingml/2006/main" prst="roundRect">
            <a:avLst>
              <a:gd name="adj" fmla="val 45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DB5CC-1764-4060-AA2C-94D2893B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8EEC"/>
                </a:solidFill>
              </a:defRPr>
            </a:pPr>
            <a:r>
              <a:rPr sz="1350" b="1">
                <a:solidFill>
                  <a:srgbClr val="5E8EEC"/>
                </a:solidFill>
              </a:rPr>
              <a:t>发现更新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560F0-2244-4938-8CF8-FCAF1943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BAC4"/>
                </a:solidFill>
              </a:defRPr>
            </a:pPr>
            <a:r>
              <a:rPr sz="1350" b="0">
                <a:solidFill>
                  <a:srgbClr val="B7BAC4"/>
                </a:solidFill>
              </a:rPr>
              <a:t>目标版本 · artifact class ·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A17BD-6816-4D3A-98C0-68A96BB8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F6D2"/>
                </a:solidFill>
              </a:defRPr>
            </a:pPr>
            <a:r>
              <a:rPr sz="1350" b="1">
                <a:solidFill>
                  <a:srgbClr val="2BF6D2"/>
                </a:solidFill>
              </a:rPr>
              <a:t>安装阶段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A7F86-A443-4B9E-B365-DECB80AF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0545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7BAC4"/>
                </a:solidFill>
              </a:defRPr>
            </a:pPr>
            <a:r>
              <a:rPr sz="1350" b="0">
                <a:solidFill>
                  <a:srgbClr val="B7BAC4"/>
                </a:solidFill>
              </a:rPr>
              <a:t>digest verify · opened installer · rollback slot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C6754-0FCB-4857-A76F-16652758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demos/mx-h2i release mock + docs/17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F8971-FF89-4B49-9284-F9D28172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78041130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2BD37478-0521-4D3E-B331-7EAFA14E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V2 · HONEST STATUS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65B0FC-51A0-4689-A199-F4C6088F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当前最值得讲清楚的，是哪些已完成、哪些仍需闭环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167A6-080C-4257-809A-DE1F1F70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1885950"/>
          <a:ext xmlns:a="http://schemas.openxmlformats.org/drawingml/2006/main" cx="107442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7600"/>
                <a:gridCol w="3979333"/>
                <a:gridCol w="4377267"/>
              </a:tblGrid>
              <a:tr h="622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领域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当前状态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下一步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MX-H2I / AppCenter / H2O UI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可演示，核心交互已成形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正式账号与环境回归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Bootstrap / WG / DNS / PAC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代码与设计完整，已有真实修复历史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跨平台、睡眠恢复、Clash 共存矩阵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Domestic / Oversea runner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plan/gate/evidence 丰富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真实生产 AWX/SSH 闭环与回滚演练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Release Center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决策与客户端状态机成形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签名、灰度、安装器、回滚 E2E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K8s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Internal 控制面与 runbook 已建立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正式宿主机 runner 与长期可观测性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602DA-1FD1-4E82-B13A-3FA0334E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D06C"/>
                </a:solidFill>
              </a:defRPr>
            </a:pPr>
            <a:r>
              <a:rPr sz="1575" b="1">
                <a:solidFill>
                  <a:srgbClr val="F8D06C"/>
                </a:solidFill>
              </a:rPr>
              <a:t>演讲口径：展示真实进展，同时把“设计完成”与“生产验证完成”明确区分。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F5969-8DEA-45A6-AC89-1496449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docs/18 validation runbook · current source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955EF-0189-4DCA-86FE-28673FA5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077419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15CBAE91-ABDF-404C-9C45-D649DA5C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EVOLUTION SCORECARD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8EAA47-BABF-4848-9D45-C93EC36F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四个阶段的取舍，最终汇合到平台化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387B2-8CB4-46A5-8ED9-EBEF0E66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57250" y="2057400"/>
          <a:ext xmlns:a="http://schemas.openxmlformats.org/drawingml/2006/main" cx="10477500" cy="3028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27903"/>
                <a:gridCol w="1689919"/>
                <a:gridCol w="1689919"/>
                <a:gridCol w="1689919"/>
                <a:gridCol w="3379839"/>
              </a:tblGrid>
              <a:tr h="6057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阶段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交付速度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可复用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可治理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F6D2"/>
                          </a:solidFill>
                        </a:rPr>
                        <a:t>适合场景</a:t>
                      </a:r>
                    </a:p>
                  </a:txBody>
                  <a:tcPr marL="95250" marR="95250" marT="66675" marB="66675">
                    <a:solidFill>
                      <a:srgbClr val="292C37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Scripts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很快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低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低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单机验证 / 应急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Docker stacks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快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中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中低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多服务器复制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V1 plugin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中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高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中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2E2E2"/>
                          </a:solidFill>
                        </a:rPr>
                        <a:t>桌面插件与市场验证</a:t>
                      </a:r>
                    </a:p>
                  </a:txBody>
                  <a:tcPr marL="95250" marR="95250" marT="66675" marB="66675">
                    <a:solidFill>
                      <a:srgbClr val="1A1B2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V2 Launcher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前期较慢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很高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高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E2E2E2"/>
                          </a:solidFill>
                        </a:rPr>
                        <a:t>多应用、多身份、多站点</a:t>
                      </a:r>
                    </a:p>
                  </a:txBody>
                  <a:tcPr marL="95250" marR="95250" marT="66675" marB="66675">
                    <a:solidFill>
                      <a:srgbClr val="19363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854AC-5A4C-4D8D-98C4-78799CF7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054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28FDF-F35F-4022-8DF8-D4B439AB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05450"/>
            <a:ext cx="944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平台化不是免费午餐：用更高的前期设计成本，换取后续应用、站点和发布的边际成本下降。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A93E4-41EC-49D6-81E9-A902D6A2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project synthesis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84D71-DC9C-4B13-BFAA-FCB20537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573809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bc2eaf9aa458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3D1BC-6D5F-4590-B5C7-A29C7E5F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69209-E465-4BA2-B2F8-19322A16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2E2E2"/>
                </a:solidFill>
              </a:defRPr>
            </a:pPr>
            <a:r>
              <a:rPr sz="3300" b="1">
                <a:solidFill>
                  <a:srgbClr val="E2E2E2"/>
                </a:solidFill>
              </a:rPr>
              <a:t>下一站：把网络工程工具装进 AppCenter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3D820-D779-401A-87A0-FF9E9BDC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F6D2"/>
                </a:solidFill>
              </a:defRPr>
            </a:pPr>
            <a:r>
              <a:rPr sz="1575" b="1">
                <a:solidFill>
                  <a:srgbClr val="2BF6D2"/>
                </a:solidFill>
              </a:rPr>
              <a:t>流量监控 · QoS / 限速 · 抓包 · 协议分析 · 可观测性插件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071AA-2CC0-4FD0-B11F-3E03DF50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从 tc 脚本积累，到可安装、可授权、</a:t>
            </a:r>
          </a:p>
          <a:p xmlns:a="http://schemas.openxmlformats.org/drawingml/2006/main">
            <a:pPr algn="l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可审计、可回滚的网络工具。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3B831-2036-4E6B-85CB-037E8AC8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future concept visual · generated, not implemented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07C7F-A228-47BB-8D45-F867596A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49365124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CAC111EE-E1C9-4BDB-9EC2-7CD5ED40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F6D2"/>
                </a:solidFill>
              </a:defRPr>
            </a:pPr>
            <a:r>
              <a:rPr sz="1050" b="1">
                <a:solidFill>
                  <a:srgbClr val="2BF6D2"/>
                </a:solidFill>
              </a:rPr>
              <a:t>ROADMAP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648277-9C47-47AD-90F5-7FDE8A25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2E2E2"/>
                </a:solidFill>
              </a:defRPr>
            </a:pPr>
            <a:r>
              <a:rPr sz="2850" b="1">
                <a:solidFill>
                  <a:srgbClr val="E2E2E2"/>
                </a:solidFill>
              </a:rPr>
              <a:t>三步把“可演示”推进到“可持续交付”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DFB43-719E-4C92-87DF-97F273D2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6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CFA3C-346A-4AB6-8B01-3A906D98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F6D2"/>
                </a:solidFill>
              </a:defRPr>
            </a:pPr>
            <a:r>
              <a:rPr sz="2550" b="1">
                <a:solidFill>
                  <a:srgbClr val="2BF6D2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057DE-CFE4-40A3-A1EF-E53CB7DF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E2E2"/>
                </a:solidFill>
              </a:defRPr>
            </a:pPr>
            <a:r>
              <a:rPr sz="1950" b="1">
                <a:solidFill>
                  <a:srgbClr val="E2E2E2"/>
                </a:solidFill>
              </a:rPr>
              <a:t>网络闭环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88ED6-A9A4-4500-B5F4-2855A146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F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A5D1A-9527-4002-989D-1BE1FF9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真实设备矩阵</a:t>
            </a:r>
          </a:p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WG / DNS / PAC / sleep-wake</a:t>
            </a:r>
          </a:p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Clash coexistence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A2488-1106-49D4-95EF-4C218940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74FF"/>
                </a:solidFill>
              </a:defRPr>
            </a:pPr>
            <a:r>
              <a:rPr sz="2550" b="1">
                <a:solidFill>
                  <a:srgbClr val="B974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5175C-93A3-4588-A880-137700FC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E2E2"/>
                </a:solidFill>
              </a:defRPr>
            </a:pPr>
            <a:r>
              <a:rPr sz="1950" b="1">
                <a:solidFill>
                  <a:srgbClr val="E2E2E2"/>
                </a:solidFill>
              </a:rPr>
              <a:t>交付闭环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56D6C-C7A8-4F39-B879-073A1821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7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855B4-CF99-4D9F-9C06-1EE84697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480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Release signing</a:t>
            </a:r>
          </a:p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灰度与回滚</a:t>
            </a:r>
          </a:p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AWX/SSH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59A94-CEB7-4486-821C-96C17C3A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D06C"/>
                </a:solidFill>
              </a:defRPr>
            </a:pPr>
            <a:r>
              <a:rPr sz="2550" b="1">
                <a:solidFill>
                  <a:srgbClr val="F8D06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A8D73-A734-44DA-911A-E45049DC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E2E2"/>
                </a:solidFill>
              </a:defRPr>
            </a:pPr>
            <a:r>
              <a:rPr sz="1950" b="1">
                <a:solidFill>
                  <a:srgbClr val="E2E2E2"/>
                </a:solidFill>
              </a:rPr>
              <a:t>网络工具生态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53BCA-8D39-4DE7-B47C-DD795F75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8D0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2495F-FDA4-499C-8216-432BBB4E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traffic metrics</a:t>
            </a:r>
          </a:p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tc policy App</a:t>
            </a:r>
          </a:p>
          <a:p xmlns:a="http://schemas.openxmlformats.org/drawingml/2006/main">
            <a:pPr algn="l">
              <a:defRPr sz="1500" b="0">
                <a:solidFill>
                  <a:srgbClr val="B7BAC4"/>
                </a:solidFill>
              </a:defRPr>
            </a:pPr>
            <a:r>
              <a:rPr sz="1500" b="0">
                <a:solidFill>
                  <a:srgbClr val="B7BAC4"/>
                </a:solidFill>
              </a:rPr>
              <a:t>Wireshark/tshark/tcpdump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89EA7-DFD6-42BB-BC70-4A71DC28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F6D2"/>
          </a:solidFill>
          <a:ln xmlns:a="http://schemas.openxmlformats.org/drawingml/2006/main" w="0">
            <a:solidFill>
              <a:srgbClr val="2BF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49A4C-1963-4BFC-B8B7-C51ACC66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41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2E2E2"/>
                </a:solidFill>
              </a:defRPr>
            </a:pPr>
            <a:r>
              <a:rPr sz="2025" b="1">
                <a:solidFill>
                  <a:srgbClr val="E2E2E2"/>
                </a:solidFill>
              </a:rPr>
              <a:t>优先补证据链，再扩功能面；每个新 App 都必须复用 Launcher Foundation，而不是复制网络底座。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CB09C-3260-46F3-8BC6-3CD56BF7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D8C"/>
                </a:solidFill>
              </a:defRPr>
            </a:pPr>
            <a:r>
              <a:rPr sz="825" b="0">
                <a:solidFill>
                  <a:srgbClr val="777D8C"/>
                </a:solidFill>
              </a:rPr>
              <a:t>SOURCE · recommended next milestones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1D7DD-CD2E-40A7-B9CC-8C7DF202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F6D2"/>
                </a:solidFill>
              </a:defRPr>
            </a:pPr>
            <a:r>
              <a:rPr sz="900" b="1">
                <a:solidFill>
                  <a:srgbClr val="2BF6D2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6270161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1414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883A1-DF17-4A0C-9B0E-01FBF882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2E2E2"/>
                </a:solidFill>
              </a:defRPr>
            </a:pPr>
            <a:r>
              <a:rPr sz="3600" b="1">
                <a:solidFill>
                  <a:srgbClr val="E2E2E2"/>
                </a:solidFill>
              </a:rPr>
              <a:t>项目已经不再只是“梯子”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4DFE6-2D7C-4D3B-9DA4-13CB400D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F6D2"/>
                </a:solidFill>
              </a:defRPr>
            </a:pPr>
            <a:r>
              <a:rPr sz="2550" b="1">
                <a:solidFill>
                  <a:srgbClr val="2BF6D2"/>
                </a:solidFill>
              </a:rPr>
              <a:t>它正在成为一套把网络能力交付给人、设备与应用的平台。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BF754-1959-4A8C-BABD-6359178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F6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ED966-D3D0-4A00-969D-5393D69A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BAC4"/>
                </a:solidFill>
              </a:defRPr>
            </a:pPr>
            <a:r>
              <a:rPr sz="1350" b="1">
                <a:solidFill>
                  <a:srgbClr val="B7BAC4"/>
                </a:solidFill>
              </a:rPr>
              <a:t>建议现场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52250-B730-44C6-BC01-B956AF60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E2E2"/>
                </a:solidFill>
              </a:defRPr>
            </a:pPr>
            <a:r>
              <a:rPr sz="1800" b="1">
                <a:solidFill>
                  <a:srgbClr val="E2E2E2"/>
                </a:solidFill>
              </a:rPr>
              <a:t>连接访客 → 员工登录 → AppCenter → 安装/打开 H2O → 订阅/规则/日志 → 检查更新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A58B7-849F-4B97-A11A-C949FDCF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BAC4"/>
                </a:solidFill>
              </a:defRPr>
            </a:pPr>
            <a:r>
              <a:rPr sz="1350" b="1">
                <a:solidFill>
                  <a:srgbClr val="B7BAC4"/>
                </a:solidFill>
              </a:rPr>
              <a:t>讨论重点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601F1-1DB6-4B17-A6AD-438A91E2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E2E2"/>
                </a:solidFill>
              </a:defRPr>
            </a:pPr>
            <a:r>
              <a:rPr sz="1650" b="1">
                <a:solidFill>
                  <a:srgbClr val="E2E2E2"/>
                </a:solidFill>
              </a:rPr>
              <a:t>先完成网络与交付证据链，再开放更多 AppCenter 网络工具。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6679A-A06A-49F3-A046-1585BE07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2BF6D2"/>
                </a:solidFill>
              </a:defRPr>
            </a:pPr>
            <a:r>
              <a:rPr sz="3150" b="1">
                <a:solidFill>
                  <a:srgbClr val="2BF6D2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55548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2026-07-16T08:41:03.4970000Z</dcterms:created>
  <dcterms:modified xsi:type="dcterms:W3CDTF">2026-07-16T08:41:03.4970000Z</dcterms:modified>
</coreProperties>
</file>